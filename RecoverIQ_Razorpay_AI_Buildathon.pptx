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097280"/>
            <a:ext cx="10728655" cy="4663440"/>
          </a:xfrm>
          <a:prstGeom prst="roundRect">
            <a:avLst/>
          </a:prstGeom>
          <a:solidFill>
            <a:srgbClr val="141C2C"/>
          </a:solidFill>
          <a:ln w="12700">
            <a:solidFill>
              <a:srgbClr val="2635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188720" y="1554480"/>
            <a:ext cx="2926080" cy="411480"/>
          </a:xfrm>
          <a:prstGeom prst="roundRect">
            <a:avLst/>
          </a:prstGeom>
          <a:solidFill>
            <a:srgbClr val="182B49"/>
          </a:solidFill>
          <a:ln w="12700">
            <a:solidFill>
              <a:srgbClr val="339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3395FF"/>
                </a:solidFill>
              </a:defRPr>
            </a:pPr>
            <a:r>
              <a:t>RAZORPAY AI BUILDATHON — TRACK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148840"/>
            <a:ext cx="96012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FFFFFF"/>
                </a:solidFill>
              </a:defRPr>
            </a:pPr>
            <a:r>
              <a:t>RecoverIQ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200400"/>
            <a:ext cx="9601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3395FF"/>
                </a:solidFill>
              </a:defRPr>
            </a:pPr>
            <a:r>
              <a:t>AI Revenue Recovery Opportunity 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3840480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94A3B8"/>
                </a:solidFill>
              </a:defRPr>
            </a:pPr>
            <a:r>
              <a:t>Tagline: "Detect. Predict. Prioritize. Recover — safely."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4663440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Architected &amp; Built by: R Yaswanth Raju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395FF"/>
                </a:solidFill>
              </a:defRPr>
            </a:pPr>
            <a:r>
              <a:t>SLIDE 2 — 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Revenue leaks through more than one door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94A3B8"/>
                </a:solidFill>
              </a:defRPr>
            </a:pPr>
            <a:r>
              <a:t>Merchants lose revenue across four distinct channels, and not every recoverable rupee is worth equal effort to chase.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2523744" cy="4114800"/>
          </a:xfrm>
          <a:prstGeom prst="roundRect">
            <a:avLst/>
          </a:prstGeom>
          <a:solidFill>
            <a:srgbClr val="141C2C"/>
          </a:solidFill>
          <a:ln w="12700">
            <a:solidFill>
              <a:srgbClr val="2635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920240"/>
            <a:ext cx="2523744" cy="10972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94560"/>
            <a:ext cx="215798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FFFFFF"/>
                </a:solidFill>
              </a:defRPr>
            </a:pPr>
            <a:r>
              <a:t>1. Failed Checkouts</a:t>
            </a:r>
          </a:p>
          <a:p>
            <a:pPr>
              <a:spcAft>
                <a:spcPts val="1600"/>
              </a:spcAft>
              <a:defRPr sz="1300">
                <a:solidFill>
                  <a:srgbClr val="94A3B8"/>
                </a:solidFill>
              </a:defRPr>
            </a:pPr>
            <a:r>
              <a:t>Card declines, bank network timeouts, issuer switches, and insufficient funds.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Challenge: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Uninformed outreach wastes valuable staff time and spams customers.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65576" y="1920240"/>
            <a:ext cx="2523744" cy="4114800"/>
          </a:xfrm>
          <a:prstGeom prst="roundRect">
            <a:avLst/>
          </a:prstGeom>
          <a:solidFill>
            <a:srgbClr val="141C2C"/>
          </a:solidFill>
          <a:ln w="12700">
            <a:solidFill>
              <a:srgbClr val="2635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65576" y="1920240"/>
            <a:ext cx="2523744" cy="1097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48456" y="2194560"/>
            <a:ext cx="215798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FFFFFF"/>
                </a:solidFill>
              </a:defRPr>
            </a:pPr>
            <a:r>
              <a:t>2. Partial Payments</a:t>
            </a:r>
          </a:p>
          <a:p>
            <a:pPr>
              <a:spcAft>
                <a:spcPts val="1600"/>
              </a:spcAft>
              <a:defRPr sz="1300">
                <a:solidFill>
                  <a:srgbClr val="94A3B8"/>
                </a:solidFill>
              </a:defRPr>
            </a:pPr>
            <a:r>
              <a:t>Token advance or deposit paid, subsequent installments abandoned by customers.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Challenge: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Uninformed outreach wastes valuable staff time and spams customers.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1920240"/>
            <a:ext cx="2523744" cy="4114800"/>
          </a:xfrm>
          <a:prstGeom prst="roundRect">
            <a:avLst/>
          </a:prstGeom>
          <a:solidFill>
            <a:srgbClr val="141C2C"/>
          </a:solidFill>
          <a:ln w="12700">
            <a:solidFill>
              <a:srgbClr val="2635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9632" y="1920240"/>
            <a:ext cx="2523744" cy="109728"/>
          </a:xfrm>
          <a:prstGeom prst="rect">
            <a:avLst/>
          </a:prstGeom>
          <a:solidFill>
            <a:srgbClr val="339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2194560"/>
            <a:ext cx="215798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FFFFFF"/>
                </a:solidFill>
              </a:defRPr>
            </a:pPr>
            <a:r>
              <a:t>3. Overdue Invoices</a:t>
            </a:r>
          </a:p>
          <a:p>
            <a:pPr>
              <a:spcAft>
                <a:spcPts val="1600"/>
              </a:spcAft>
              <a:defRPr sz="1300">
                <a:solidFill>
                  <a:srgbClr val="94A3B8"/>
                </a:solidFill>
              </a:defRPr>
            </a:pPr>
            <a:r>
              <a:t>B2B commercial accounts receivable slipping well past contractual net-terms.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Challenge: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Uninformed outreach wastes valuable staff time and spams customers.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3688" y="1920240"/>
            <a:ext cx="2523744" cy="4114800"/>
          </a:xfrm>
          <a:prstGeom prst="roundRect">
            <a:avLst/>
          </a:prstGeom>
          <a:solidFill>
            <a:srgbClr val="141C2C"/>
          </a:solidFill>
          <a:ln w="12700">
            <a:solidFill>
              <a:srgbClr val="2635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933688" y="1920240"/>
            <a:ext cx="2523744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16568" y="2194560"/>
            <a:ext cx="215798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FFFFFF"/>
                </a:solidFill>
              </a:defRPr>
            </a:pPr>
            <a:r>
              <a:t>4. Refund Mismatches</a:t>
            </a:r>
          </a:p>
          <a:p>
            <a:pPr>
              <a:spcAft>
                <a:spcPts val="1600"/>
              </a:spcAft>
              <a:defRPr sz="1300">
                <a:solidFill>
                  <a:srgbClr val="94A3B8"/>
                </a:solidFill>
              </a:defRPr>
            </a:pPr>
            <a:r>
              <a:t>Pre-authorized gateway funds captured but left unreconciled against order records.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Challenge: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Uninformed outreach wastes valuable staff time and spams customers.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395FF"/>
                </a:solidFill>
              </a:defRPr>
            </a:pPr>
            <a:r>
              <a:t>SLIDE 3 — 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One engine that ranks opportunities, not just retries payments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523744" cy="4572000"/>
          </a:xfrm>
          <a:prstGeom prst="roundRect">
            <a:avLst/>
          </a:prstGeom>
          <a:solidFill>
            <a:srgbClr val="141C2C"/>
          </a:solidFill>
          <a:ln w="12700">
            <a:solidFill>
              <a:srgbClr val="2635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874519"/>
            <a:ext cx="1463040" cy="320040"/>
          </a:xfrm>
          <a:prstGeom prst="roundRect">
            <a:avLst/>
          </a:prstGeom>
          <a:solidFill>
            <a:srgbClr val="182B49"/>
          </a:solidFill>
          <a:ln>
            <a:solidFill>
              <a:srgbClr val="339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3395FF"/>
                </a:solidFill>
              </a:defRPr>
            </a:pPr>
            <a:r>
              <a:t>STEP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215798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10B981"/>
                </a:solidFill>
              </a:defRPr>
            </a:pPr>
            <a:r>
              <a:t>DETECT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</a:defRPr>
            </a:pPr>
            <a:r>
              <a:t>Continuous Multi-Vector Ingestion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Scans transactions across all four opportunity types: card declines, partial orders, invoices, and pre-auth authorizations.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65576" y="1645920"/>
            <a:ext cx="2523744" cy="4572000"/>
          </a:xfrm>
          <a:prstGeom prst="roundRect">
            <a:avLst/>
          </a:prstGeom>
          <a:solidFill>
            <a:srgbClr val="141C2C"/>
          </a:solidFill>
          <a:ln w="12700">
            <a:solidFill>
              <a:srgbClr val="2635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48456" y="1874519"/>
            <a:ext cx="1463040" cy="320040"/>
          </a:xfrm>
          <a:prstGeom prst="roundRect">
            <a:avLst/>
          </a:prstGeom>
          <a:solidFill>
            <a:srgbClr val="182B49"/>
          </a:solidFill>
          <a:ln>
            <a:solidFill>
              <a:srgbClr val="339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3395FF"/>
                </a:solidFill>
              </a:defRPr>
            </a:pPr>
            <a:r>
              <a:t>STEP 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48456" y="2377440"/>
            <a:ext cx="215798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10B981"/>
                </a:solidFill>
              </a:defRPr>
            </a:pPr>
            <a:r>
              <a:t>PREDICT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</a:defRPr>
            </a:pPr>
            <a:r>
              <a:t>Calibrated Machine Learning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Trained ML model estimates true recovery probability from historical customer behavior, retry counts, age, and payment rails.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645920"/>
            <a:ext cx="2523744" cy="4572000"/>
          </a:xfrm>
          <a:prstGeom prst="roundRect">
            <a:avLst/>
          </a:prstGeom>
          <a:solidFill>
            <a:srgbClr val="141C2C"/>
          </a:solidFill>
          <a:ln w="12700">
            <a:solidFill>
              <a:srgbClr val="2635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82512" y="1874519"/>
            <a:ext cx="1463040" cy="320040"/>
          </a:xfrm>
          <a:prstGeom prst="roundRect">
            <a:avLst/>
          </a:prstGeom>
          <a:solidFill>
            <a:srgbClr val="182B49"/>
          </a:solidFill>
          <a:ln>
            <a:solidFill>
              <a:srgbClr val="339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3395FF"/>
                </a:solidFill>
              </a:defRPr>
            </a:pPr>
            <a:r>
              <a:t>STEP 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2377440"/>
            <a:ext cx="215798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10B981"/>
                </a:solidFill>
              </a:defRPr>
            </a:pPr>
            <a:r>
              <a:t>PRIORITIZE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</a:defRPr>
            </a:pPr>
            <a:r>
              <a:t>0/1 Knapsack Optimization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Ranks opportunities by expected recovery value subject to a strict daily outreach effort limit. Solves allocation, not plain sorting.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33688" y="1645920"/>
            <a:ext cx="2523744" cy="4572000"/>
          </a:xfrm>
          <a:prstGeom prst="roundRect">
            <a:avLst/>
          </a:prstGeom>
          <a:solidFill>
            <a:srgbClr val="141C2C"/>
          </a:solidFill>
          <a:ln w="12700">
            <a:solidFill>
              <a:srgbClr val="2635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116568" y="1874519"/>
            <a:ext cx="1463040" cy="320040"/>
          </a:xfrm>
          <a:prstGeom prst="roundRect">
            <a:avLst/>
          </a:prstGeom>
          <a:solidFill>
            <a:srgbClr val="182B49"/>
          </a:solidFill>
          <a:ln>
            <a:solidFill>
              <a:srgbClr val="339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3395FF"/>
                </a:solidFill>
              </a:defRPr>
            </a:pPr>
            <a:r>
              <a:t>STEP 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16568" y="2377440"/>
            <a:ext cx="215798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10B981"/>
                </a:solidFill>
              </a:defRPr>
            </a:pPr>
            <a:r>
              <a:t>RECOVER SAFELY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</a:defRPr>
            </a:pPr>
            <a:r>
              <a:t>Deterministic Safety Guardrails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Automated rules verify spend caps, issuer switch health, and notification backoff before 1-click execution or quarantining.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395FF"/>
                </a:solidFill>
              </a:defRPr>
            </a:pPr>
            <a:r>
              <a:t>SLIDE 4 —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From a raw event to a verified, audited outcome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234440" cy="1097280"/>
          </a:xfrm>
          <a:prstGeom prst="roundRect">
            <a:avLst/>
          </a:prstGeom>
          <a:solidFill>
            <a:srgbClr val="141C2C"/>
          </a:solidFill>
          <a:ln w="12700">
            <a:solidFill>
              <a:srgbClr val="2635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1. Raw Event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84832" y="1554480"/>
            <a:ext cx="1234440" cy="1097280"/>
          </a:xfrm>
          <a:prstGeom prst="roundRect">
            <a:avLst/>
          </a:prstGeom>
          <a:solidFill>
            <a:srgbClr val="141C2C"/>
          </a:solidFill>
          <a:ln w="12700">
            <a:solidFill>
              <a:srgbClr val="2635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2. Vector Detect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8144" y="1554480"/>
            <a:ext cx="1234440" cy="1097280"/>
          </a:xfrm>
          <a:prstGeom prst="roundRect">
            <a:avLst/>
          </a:prstGeom>
          <a:solidFill>
            <a:srgbClr val="141C2C"/>
          </a:solidFill>
          <a:ln w="19050">
            <a:solidFill>
              <a:srgbClr val="339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3. ML Predict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91456" y="1554480"/>
            <a:ext cx="1234440" cy="1097280"/>
          </a:xfrm>
          <a:prstGeom prst="roundRect">
            <a:avLst/>
          </a:prstGeom>
          <a:solidFill>
            <a:srgbClr val="141C2C"/>
          </a:solidFill>
          <a:ln w="12700">
            <a:solidFill>
              <a:srgbClr val="2635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4. Expected Value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44768" y="1554480"/>
            <a:ext cx="1234440" cy="1097280"/>
          </a:xfrm>
          <a:prstGeom prst="roundRect">
            <a:avLst/>
          </a:prstGeom>
          <a:solidFill>
            <a:srgbClr val="141C2C"/>
          </a:solidFill>
          <a:ln w="19050">
            <a:solidFill>
              <a:srgbClr val="339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5. Guardrails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0" y="1554480"/>
            <a:ext cx="1234440" cy="1097280"/>
          </a:xfrm>
          <a:prstGeom prst="roundRect">
            <a:avLst/>
          </a:prstGeom>
          <a:solidFill>
            <a:srgbClr val="141C2C"/>
          </a:solidFill>
          <a:ln w="19050">
            <a:solidFill>
              <a:srgbClr val="339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6. Knapsack DP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51392" y="1554480"/>
            <a:ext cx="1234440" cy="1097280"/>
          </a:xfrm>
          <a:prstGeom prst="roundRect">
            <a:avLst/>
          </a:prstGeom>
          <a:solidFill>
            <a:srgbClr val="141C2C"/>
          </a:solidFill>
          <a:ln w="19050">
            <a:solidFill>
              <a:srgbClr val="339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7. Execute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204704" y="1554480"/>
            <a:ext cx="1234440" cy="1097280"/>
          </a:xfrm>
          <a:prstGeom prst="roundRect">
            <a:avLst/>
          </a:prstGeom>
          <a:solidFill>
            <a:srgbClr val="141C2C"/>
          </a:solidFill>
          <a:ln w="12700">
            <a:solidFill>
              <a:srgbClr val="2635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8. Audit &amp; Sync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78892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3395FF"/>
                </a:solidFill>
              </a:defRPr>
            </a:pPr>
            <a:r>
              <a:t>Raw Event  -&gt;  Detection  -&gt;  Probability (P)  -&gt;  EV = P * Amt  -&gt;  Policy Filter  -&gt;  0/1 Knapsack  -&gt;  Razorpay API  -&gt;  Audit Log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291840"/>
            <a:ext cx="10728655" cy="3017520"/>
          </a:xfrm>
          <a:prstGeom prst="roundRect">
            <a:avLst/>
          </a:prstGeom>
          <a:solidFill>
            <a:srgbClr val="141C2C"/>
          </a:solidFill>
          <a:ln w="12700">
            <a:solidFill>
              <a:srgbClr val="2635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474720"/>
            <a:ext cx="4937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10B981"/>
                </a:solidFill>
              </a:defRPr>
            </a:pPr>
            <a:r>
              <a:t>CRITICAL SAFETY ARCHITECTURE</a:t>
            </a:r>
          </a:p>
          <a:p>
            <a:pPr>
              <a:spcAft>
                <a:spcPts val="800"/>
              </a:spcAft>
              <a:defRPr sz="1600" b="1">
                <a:solidFill>
                  <a:srgbClr val="FFFFFF"/>
                </a:solidFill>
              </a:defRPr>
            </a:pPr>
            <a:r>
              <a:t>A high-value, low-confidence case never executes automatically.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High-ticket transactions with probability under policy thresholds are quarantined immediately for manual staff review. AI explains the recommendation; a deterministic hard-coded rule decides if it is safe to act.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3474720"/>
            <a:ext cx="4937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3395FF"/>
                </a:solidFill>
              </a:defRPr>
            </a:pPr>
            <a:r>
              <a:t>PRODUCTION PIPELINE SPECIFICATIONS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</a:defRPr>
            </a:pPr>
            <a:r>
              <a:t>•  FastAPI Backend: High-concurrency async endpoints with SQLite persistence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</a:defRPr>
            </a:pPr>
            <a:r>
              <a:t>•  Deterministic Guardrails: Spend ceilings, switch health, and backoff verified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</a:defRPr>
            </a:pPr>
            <a:r>
              <a:t>•  Razorpay SDK Integration: Real payment links, smart retries, and pre-auth capture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</a:defRPr>
            </a:pPr>
            <a:r>
              <a:t>•  Immutable Audit Trail: Every recovery action timestamped and HMAC verified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395FF"/>
                </a:solidFill>
              </a:defRPr>
            </a:pPr>
            <a:r>
              <a:t>SLIDE 5 — THE DIFFERENTIATOR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Not a sorted list — a solved allocation problem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6858000" cy="4754880"/>
          </a:xfrm>
          <a:prstGeom prst="roundRect">
            <a:avLst/>
          </a:prstGeom>
          <a:solidFill>
            <a:srgbClr val="141C2C"/>
          </a:solidFill>
          <a:ln w="12700">
            <a:solidFill>
              <a:srgbClr val="2635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45920"/>
            <a:ext cx="6309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FFFFFF"/>
                </a:solidFill>
              </a:defRPr>
            </a:pPr>
            <a:r>
              <a:t>0/1 Knapsack Optimization Formulation</a:t>
            </a:r>
          </a:p>
          <a:p>
            <a:pPr>
              <a:spcAft>
                <a:spcPts val="1200"/>
              </a:spcAft>
              <a:defRPr sz="1300">
                <a:solidFill>
                  <a:srgbClr val="94A3B8"/>
                </a:solidFill>
              </a:defRPr>
            </a:pPr>
            <a:r>
              <a:t>Given a daily merchant effort capacity of W = 6 units, RecoverIQ computes the exact mathematical combination of actions maximizing total expected recovered revenue, rather than a plain sorted list.</a:t>
            </a:r>
          </a:p>
          <a:p>
            <a:pPr>
              <a:defRPr sz="1400" b="1">
                <a:solidFill>
                  <a:srgbClr val="10B981"/>
                </a:solidFill>
              </a:defRPr>
            </a:pPr>
            <a:r>
              <a:t>Selected Action Set (Optimal DP):</a:t>
            </a:r>
          </a:p>
          <a:p>
            <a:pPr>
              <a:spcAft>
                <a:spcPts val="400"/>
              </a:spcAft>
              <a:defRPr sz="1200">
                <a:solidFill>
                  <a:srgbClr val="FFFFFF"/>
                </a:solidFill>
              </a:defRPr>
            </a:pPr>
            <a:r>
              <a:t>  [SELECTED] INV-2026-001 (₹13,833) | Effort: 2 Units | 86% Prob -&gt; EV: ₹11,896</a:t>
            </a:r>
          </a:p>
          <a:p>
            <a:pPr>
              <a:spcAft>
                <a:spcPts val="400"/>
              </a:spcAft>
              <a:defRPr sz="1200">
                <a:solidFill>
                  <a:srgbClr val="FFFFFF"/>
                </a:solidFill>
              </a:defRPr>
            </a:pPr>
            <a:r>
              <a:t>  [SELECTED] INV-2026-002 (₹10,159) | Effort: 2 Units | 84% Prob -&gt; EV: ₹8,533</a:t>
            </a:r>
          </a:p>
          <a:p>
            <a:pPr>
              <a:spcAft>
                <a:spcPts val="400"/>
              </a:spcAft>
              <a:defRPr sz="1200">
                <a:solidFill>
                  <a:srgbClr val="FFFFFF"/>
                </a:solidFill>
              </a:defRPr>
            </a:pPr>
            <a:r>
              <a:t>  [SELECTED] Partial INV-2026-002 (₹9,520) | Effort: 2 Units | 78% Prob -&gt; EV: ₹7,425</a:t>
            </a:r>
          </a:p>
          <a:p>
            <a:br/>
            <a:pPr>
              <a:defRPr sz="1400" b="1">
                <a:solidFill>
                  <a:srgbClr val="EF4444"/>
                </a:solidFill>
              </a:defRPr>
            </a:pPr>
            <a:r>
              <a:t>Rejected Candidate (Trade-off Analysis):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[REJECTED] INV-2026-003 (₹15,200) — Exceeds remaining capacity budget (requires 2 units, remaining = 0). Lower EV-to-effort density than selected subset.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18120" y="1463040"/>
            <a:ext cx="3657600" cy="4754880"/>
          </a:xfrm>
          <a:prstGeom prst="roundRect">
            <a:avLst/>
          </a:prstGeom>
          <a:solidFill>
            <a:srgbClr val="101929"/>
          </a:solidFill>
          <a:ln w="12700">
            <a:solidFill>
              <a:srgbClr val="339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0" y="2011680"/>
            <a:ext cx="3200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3395FF"/>
                </a:solidFill>
              </a:defRPr>
            </a:pPr>
            <a:r>
              <a:t>QUANTIFIABLE PERFORMANCE LIFT</a:t>
            </a:r>
          </a:p>
          <a:p>
            <a:pPr>
              <a:spcAft>
                <a:spcPts val="1000"/>
              </a:spcAft>
              <a:defRPr sz="5600" b="1">
                <a:solidFill>
                  <a:srgbClr val="10B981"/>
                </a:solidFill>
              </a:defRPr>
            </a:pPr>
            <a:r>
              <a:t>+72.8%</a:t>
            </a:r>
          </a:p>
          <a:p>
            <a:pPr>
              <a:spcAft>
                <a:spcPts val="1800"/>
              </a:spcAft>
              <a:defRPr sz="1600" b="1">
                <a:solidFill>
                  <a:srgbClr val="FFFFFF"/>
                </a:solidFill>
              </a:defRPr>
            </a:pPr>
            <a:r>
              <a:t>Lift in expected recovered revenue vs. naive FIFO ordering.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Footnote: Measured against synthetic ground-truth outcomes across identical opportunity candidate sets under fixed capacity limits.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395FF"/>
                </a:solidFill>
              </a:defRPr>
            </a:pPr>
            <a:r>
              <a:t>SLIDE 6 — BOUNDED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AI explains the decision. It never makes the call alone.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3395FF"/>
                </a:solidFill>
              </a:defRPr>
            </a:pPr>
            <a:r>
              <a:t>Confidence is derived from the model's calibrated probability — never the LLM's self-assessment.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212080" cy="4389120"/>
          </a:xfrm>
          <a:prstGeom prst="roundRect">
            <a:avLst/>
          </a:prstGeom>
          <a:solidFill>
            <a:srgbClr val="141C2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46634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10B981"/>
                </a:solidFill>
              </a:defRPr>
            </a:pPr>
            <a:r>
              <a:t>CARD 1: AUTO-RECOMMENDED (PASSED)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Opportunity ID: 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</a:defRPr>
            </a:pPr>
            <a:r>
              <a:t>OPP_PARTIAL_INV_PARTIAL_01 (₹9,520)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Root Cause: 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</a:defRPr>
            </a:pPr>
            <a:r>
              <a:t>Token advance paid, balance abandoned after 3 days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Recommended Action: 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</a:defRPr>
            </a:pPr>
            <a:r>
              <a:t>1-Click WhatsApp payment recovery link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Model Confidence: 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</a:defRPr>
            </a:pPr>
            <a:r>
              <a:t>85% [HIGH TIER] — Calibrated GBDT probability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Guardrail Decision: 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</a:defRPr>
            </a:pPr>
            <a:r>
              <a:t>PASSED — Spend under limit, switch healthy, cooldown verified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Execution Status: 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</a:defRPr>
            </a:pPr>
            <a:r>
              <a:t>Dispatched to Razorpay Test Mode automatically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920240"/>
            <a:ext cx="5212080" cy="4389120"/>
          </a:xfrm>
          <a:prstGeom prst="roundRect">
            <a:avLst/>
          </a:prstGeom>
          <a:solidFill>
            <a:srgbClr val="141C2C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103120"/>
            <a:ext cx="46634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F59E0B"/>
                </a:solidFill>
              </a:defRPr>
            </a:pPr>
            <a:r>
              <a:t>CARD 2: QUARANTINED (MANUAL REVIEW)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Opportunity ID: 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</a:defRPr>
            </a:pPr>
            <a:r>
              <a:t>OPP_INVOICE_OVERDUE_99 (₹12,400)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Root Cause: 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</a:defRPr>
            </a:pPr>
            <a:r>
              <a:t>High-value overdue invoice, no prior customer history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Recommended Action: 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</a:defRPr>
            </a:pPr>
            <a:r>
              <a:t>Personalized account outreach first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Model Confidence: 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</a:defRPr>
            </a:pPr>
            <a:r>
              <a:t>46% [LOW TIER] — Below 70% threshold for &gt;₹10k ticket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Guardrail Decision: 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</a:defRPr>
            </a:pPr>
            <a:r>
              <a:t>BLOCKED / QUARANTINED — High value &amp; low confidence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Execution Status: 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</a:defRPr>
            </a:pPr>
            <a:r>
              <a:t>Quarantined. Routed to manual review queue; zero auto-dispatch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395FF"/>
                </a:solidFill>
              </a:defRPr>
            </a:pPr>
            <a:r>
              <a:t>SLIDE 7 —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Measured, not claimed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2523744" cy="1645920"/>
          </a:xfrm>
          <a:prstGeom prst="roundRect">
            <a:avLst/>
          </a:prstGeom>
          <a:solidFill>
            <a:srgbClr val="141C2C"/>
          </a:solidFill>
          <a:ln w="12700">
            <a:solidFill>
              <a:srgbClr val="2635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215798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94A3B8"/>
                </a:solidFill>
              </a:defRPr>
            </a:pPr>
            <a:r>
              <a:t>Revenue at Risk</a:t>
            </a:r>
          </a:p>
          <a:p>
            <a:pPr>
              <a:spcAft>
                <a:spcPts val="400"/>
              </a:spcAft>
              <a:defRPr sz="2800" b="1">
                <a:solidFill>
                  <a:srgbClr val="EF4444"/>
                </a:solidFill>
              </a:defRPr>
            </a:pPr>
            <a:r>
              <a:t>₹74,149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Total delinquent volume detected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65576" y="1463040"/>
            <a:ext cx="2523744" cy="1645920"/>
          </a:xfrm>
          <a:prstGeom prst="roundRect">
            <a:avLst/>
          </a:prstGeom>
          <a:solidFill>
            <a:srgbClr val="141C2C"/>
          </a:solidFill>
          <a:ln w="12700">
            <a:solidFill>
              <a:srgbClr val="2635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48456" y="1600200"/>
            <a:ext cx="215798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94A3B8"/>
                </a:solidFill>
              </a:defRPr>
            </a:pPr>
            <a:r>
              <a:t>Predicted Recoverable</a:t>
            </a:r>
          </a:p>
          <a:p>
            <a:pPr>
              <a:spcAft>
                <a:spcPts val="400"/>
              </a:spcAft>
              <a:defRPr sz="2800" b="1">
                <a:solidFill>
                  <a:srgbClr val="3395FF"/>
                </a:solidFill>
              </a:defRPr>
            </a:pPr>
            <a:r>
              <a:t>₹60,673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Expected recovery pool (EV)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463040"/>
            <a:ext cx="2523744" cy="1645920"/>
          </a:xfrm>
          <a:prstGeom prst="roundRect">
            <a:avLst/>
          </a:prstGeom>
          <a:solidFill>
            <a:srgbClr val="141C2C"/>
          </a:solidFill>
          <a:ln w="12700">
            <a:solidFill>
              <a:srgbClr val="2635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82512" y="1600200"/>
            <a:ext cx="215798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94A3B8"/>
                </a:solidFill>
              </a:defRPr>
            </a:pPr>
            <a:r>
              <a:t>Actual Settled</a:t>
            </a:r>
          </a:p>
          <a:p>
            <a:pPr>
              <a:spcAft>
                <a:spcPts val="400"/>
              </a:spcAft>
              <a:defRPr sz="2800" b="1">
                <a:solidFill>
                  <a:srgbClr val="10B981"/>
                </a:solidFill>
              </a:defRPr>
            </a:pPr>
            <a:r>
              <a:t>₹21,049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Reconciled via Razorpay API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33688" y="1463040"/>
            <a:ext cx="2523744" cy="1645920"/>
          </a:xfrm>
          <a:prstGeom prst="roundRect">
            <a:avLst/>
          </a:prstGeom>
          <a:solidFill>
            <a:srgbClr val="141C2C"/>
          </a:solidFill>
          <a:ln w="12700">
            <a:solidFill>
              <a:srgbClr val="2635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16568" y="1600200"/>
            <a:ext cx="215798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94A3B8"/>
                </a:solidFill>
              </a:defRPr>
            </a:pPr>
            <a:r>
              <a:t>Recovery Rate</a:t>
            </a:r>
          </a:p>
          <a:p>
            <a:pPr>
              <a:spcAft>
                <a:spcPts val="400"/>
              </a:spcAft>
              <a:defRPr sz="2800" b="1">
                <a:solidFill>
                  <a:srgbClr val="10B981"/>
                </a:solidFill>
              </a:defRPr>
            </a:pPr>
            <a:r>
              <a:t>28.4%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Conversion rate of settled capital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383280"/>
            <a:ext cx="10728655" cy="2834640"/>
          </a:xfrm>
          <a:prstGeom prst="roundRect">
            <a:avLst/>
          </a:prstGeom>
          <a:solidFill>
            <a:srgbClr val="141C2C"/>
          </a:solidFill>
          <a:ln w="12700">
            <a:solidFill>
              <a:srgbClr val="2635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566160"/>
            <a:ext cx="101498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 b="1">
                <a:solidFill>
                  <a:srgbClr val="FFFFFF"/>
                </a:solidFill>
              </a:defRPr>
            </a:pPr>
            <a:r>
              <a:t>Recovery Rate by Opportunity Type</a:t>
            </a:r>
          </a:p>
          <a:p>
            <a:pPr>
              <a:defRPr sz="1300" b="1">
                <a:solidFill>
                  <a:srgbClr val="3395FF"/>
                </a:solidFill>
              </a:defRPr>
            </a:pPr>
            <a:r>
              <a:t>•  Failed Checkouts:  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</a:defRPr>
            </a:pPr>
            <a:r>
              <a:t>    Recovery Rate: 100.0%  —  Instant switch retry &amp; 1-click fallback links; resolved immediate network card declines.</a:t>
            </a:r>
          </a:p>
          <a:p>
            <a:pPr>
              <a:defRPr sz="1300" b="1">
                <a:solidFill>
                  <a:srgbClr val="3395FF"/>
                </a:solidFill>
              </a:defRPr>
            </a:pPr>
            <a:r>
              <a:t>•  Partial Payments:  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</a:defRPr>
            </a:pPr>
            <a:r>
              <a:t>    Recovery Rate: 37.8%  —  Multi-channel WhatsApp/SMS balance links; active dunning cadence ongoing.</a:t>
            </a:r>
          </a:p>
          <a:p>
            <a:pPr>
              <a:defRPr sz="1300" b="1">
                <a:solidFill>
                  <a:srgbClr val="3395FF"/>
                </a:solidFill>
              </a:defRPr>
            </a:pPr>
            <a:r>
              <a:t>•  Overdue Invoices:  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</a:defRPr>
            </a:pPr>
            <a:r>
              <a:t>    Recovery Rate: Active / In Progress  —  B2B payment links generated with unique reference IDs and automated reminders.</a:t>
            </a:r>
          </a:p>
          <a:p>
            <a:pPr>
              <a:defRPr sz="1300" b="1">
                <a:solidFill>
                  <a:srgbClr val="3395FF"/>
                </a:solidFill>
              </a:defRPr>
            </a:pPr>
            <a:r>
              <a:t>•  Refund Mismatches:  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</a:defRPr>
            </a:pPr>
            <a:r>
              <a:t>    Recovery Rate: Reconciled  —  Pre-authorization capture executed safely within INR 7,500 safety ceiling.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395FF"/>
                </a:solidFill>
              </a:defRPr>
            </a:pPr>
            <a:r>
              <a:t>SLIDE 8 — ENGINEERING RIGOR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Built to be checked, not just demoed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4754880"/>
          </a:xfrm>
          <a:prstGeom prst="roundRect">
            <a:avLst/>
          </a:prstGeom>
          <a:solidFill>
            <a:srgbClr val="141C2C"/>
          </a:solidFill>
          <a:ln w="12700">
            <a:solidFill>
              <a:srgbClr val="2635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45920"/>
            <a:ext cx="46634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 b="1">
                <a:solidFill>
                  <a:srgbClr val="FFFFFF"/>
                </a:solidFill>
              </a:defRPr>
            </a:pPr>
            <a:r>
              <a:t>Model Metrics (Held-Out Evaluation Set)</a:t>
            </a:r>
          </a:p>
          <a:p>
            <a:pPr>
              <a:defRPr sz="2000" b="1">
                <a:solidFill>
                  <a:srgbClr val="10B981"/>
                </a:solidFill>
              </a:defRPr>
            </a:pPr>
            <a:r>
              <a:t>Precision:  0.53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</a:defRPr>
            </a:pPr>
            <a:r>
              <a:t>  (True positive recovery proportion)</a:t>
            </a:r>
          </a:p>
          <a:p>
            <a:pPr>
              <a:defRPr sz="2000" b="1">
                <a:solidFill>
                  <a:srgbClr val="10B981"/>
                </a:solidFill>
              </a:defRPr>
            </a:pPr>
            <a:r>
              <a:t>Recall:  0.84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</a:defRPr>
            </a:pPr>
            <a:r>
              <a:t>  (Deliberately maximized sensitivity)</a:t>
            </a:r>
          </a:p>
          <a:p>
            <a:pPr>
              <a:defRPr sz="2000" b="1">
                <a:solidFill>
                  <a:srgbClr val="10B981"/>
                </a:solidFill>
              </a:defRPr>
            </a:pPr>
            <a:r>
              <a:t>ROC-AUC:  0.70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</a:defRPr>
            </a:pPr>
            <a:r>
              <a:t>  (Discriminative separation capability)</a:t>
            </a:r>
          </a:p>
          <a:p>
            <a:br/>
            <a:pPr>
              <a:defRPr sz="1300" b="1">
                <a:solidFill>
                  <a:srgbClr val="F59E0B"/>
                </a:solidFill>
              </a:defRPr>
            </a:pPr>
            <a:r>
              <a:t>Strategic Decision Note: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Recall was prioritized deliberately (class_weight='balanced') — in revenue recovery, missing a recoverable payment costs significantly more than chasing a lost cause.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41C2C"/>
          </a:solidFill>
          <a:ln w="12700">
            <a:solidFill>
              <a:srgbClr val="2635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645920"/>
            <a:ext cx="46634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 b="1">
                <a:solidFill>
                  <a:srgbClr val="FFFFFF"/>
                </a:solidFill>
              </a:defRPr>
            </a:pPr>
            <a:r>
              <a:t>Production-Grade Engineering Stack</a:t>
            </a:r>
          </a:p>
          <a:p>
            <a:pPr>
              <a:defRPr sz="1400" b="1">
                <a:solidFill>
                  <a:srgbClr val="3395FF"/>
                </a:solidFill>
              </a:defRPr>
            </a:pPr>
            <a:r>
              <a:t>FastAPI &amp; SQLAlchemy</a:t>
            </a:r>
          </a:p>
          <a:p>
            <a:pPr>
              <a:spcAft>
                <a:spcPts val="800"/>
              </a:spcAft>
              <a:defRPr sz="1200">
                <a:solidFill>
                  <a:srgbClr val="94A3B8"/>
                </a:solidFill>
              </a:defRPr>
            </a:pPr>
            <a:r>
              <a:t>Async, typed REST APIs with SQLite database persistence, connection pooling, and migrations.</a:t>
            </a:r>
          </a:p>
          <a:p>
            <a:pPr>
              <a:defRPr sz="1400" b="1">
                <a:solidFill>
                  <a:srgbClr val="3395FF"/>
                </a:solidFill>
              </a:defRPr>
            </a:pPr>
            <a:r>
              <a:t>scikit-learn GBDT</a:t>
            </a:r>
          </a:p>
          <a:p>
            <a:pPr>
              <a:spcAft>
                <a:spcPts val="800"/>
              </a:spcAft>
              <a:defRPr sz="1200">
                <a:solidFill>
                  <a:srgbClr val="94A3B8"/>
                </a:solidFill>
              </a:defRPr>
            </a:pPr>
            <a:r>
              <a:t>Calibrated Gradient Boosting Classifier with Brier score evaluation and isotonic decile calibration.</a:t>
            </a:r>
          </a:p>
          <a:p>
            <a:pPr>
              <a:defRPr sz="1400" b="1">
                <a:solidFill>
                  <a:srgbClr val="3395FF"/>
                </a:solidFill>
              </a:defRPr>
            </a:pPr>
            <a:r>
              <a:t>Razorpay Test-Mode Gateway</a:t>
            </a:r>
          </a:p>
          <a:p>
            <a:pPr>
              <a:spcAft>
                <a:spcPts val="800"/>
              </a:spcAft>
              <a:defRPr sz="1200">
                <a:solidFill>
                  <a:srgbClr val="94A3B8"/>
                </a:solidFill>
              </a:defRPr>
            </a:pPr>
            <a:r>
              <a:t>Full payment link generation, smart switch retry execution, and pre-auth capture APIs.</a:t>
            </a:r>
          </a:p>
          <a:p>
            <a:pPr>
              <a:defRPr sz="1400" b="1">
                <a:solidFill>
                  <a:srgbClr val="3395FF"/>
                </a:solidFill>
              </a:defRPr>
            </a:pPr>
            <a:r>
              <a:t>Idempotency &amp; Integrity</a:t>
            </a:r>
          </a:p>
          <a:p>
            <a:pPr>
              <a:spcAft>
                <a:spcPts val="800"/>
              </a:spcAft>
              <a:defRPr sz="1200">
                <a:solidFill>
                  <a:srgbClr val="94A3B8"/>
                </a:solidFill>
              </a:defRPr>
            </a:pPr>
            <a:r>
              <a:t>Unique reference IDs (&lt;40 chars), HMAC-SHA256 signature verification, and immutable audit logs.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395FF"/>
                </a:solidFill>
              </a:defRPr>
            </a:pPr>
            <a:r>
              <a:t>SLIDE 9 — WHAT'S NEXT / 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A decision system, not a retry bot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401568" cy="3200400"/>
          </a:xfrm>
          <a:prstGeom prst="roundRect">
            <a:avLst/>
          </a:prstGeom>
          <a:solidFill>
            <a:srgbClr val="141C2C"/>
          </a:solidFill>
          <a:ln w="12700">
            <a:solidFill>
              <a:srgbClr val="2635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3035808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3395FF"/>
                </a:solidFill>
              </a:defRPr>
            </a:pPr>
            <a:r>
              <a:t>1. Feedback Loop</a:t>
            </a:r>
          </a:p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</a:defRPr>
            </a:pPr>
            <a:r>
              <a:t>Real-World Retraining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Real recovery outcomes continuously feed back into periodic Bayesian model retraining, adapting to seasonal issuer behavior and changing customer risk profiles.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463040"/>
            <a:ext cx="3401568" cy="3200400"/>
          </a:xfrm>
          <a:prstGeom prst="roundRect">
            <a:avLst/>
          </a:prstGeom>
          <a:solidFill>
            <a:srgbClr val="141C2C"/>
          </a:solidFill>
          <a:ln w="12700">
            <a:solidFill>
              <a:srgbClr val="2635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645920"/>
            <a:ext cx="3035808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3395FF"/>
                </a:solidFill>
              </a:defRPr>
            </a:pPr>
            <a:r>
              <a:t>2. Multi-Vector Expansion</a:t>
            </a:r>
          </a:p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</a:defRPr>
            </a:pPr>
            <a:r>
              <a:t>Beyond the Four Channels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Extend detection engine beyond the initial four vectors into recurring subscription churn, UPI Autopay mandate renewal failures, and dispute/chargeback mitigation.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463040"/>
            <a:ext cx="3401568" cy="3200400"/>
          </a:xfrm>
          <a:prstGeom prst="roundRect">
            <a:avLst/>
          </a:prstGeom>
          <a:solidFill>
            <a:srgbClr val="141C2C"/>
          </a:solidFill>
          <a:ln w="12700">
            <a:solidFill>
              <a:srgbClr val="2635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0" y="1645920"/>
            <a:ext cx="3035808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3395FF"/>
                </a:solidFill>
              </a:defRPr>
            </a:pPr>
            <a:r>
              <a:t>3. Drift Monitoring</a:t>
            </a:r>
          </a:p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</a:defRPr>
            </a:pPr>
            <a:r>
              <a:t>Calibration Guardrails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Real-time sliding window telemetry tracking predicted probability vs. empirical recovery rate, automatically alerting merchants if Brier error increases.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937760"/>
            <a:ext cx="10728655" cy="1280160"/>
          </a:xfrm>
          <a:prstGeom prst="roundRect">
            <a:avLst/>
          </a:prstGeom>
          <a:solidFill>
            <a:srgbClr val="101929"/>
          </a:solidFill>
          <a:ln w="12700">
            <a:solidFill>
              <a:srgbClr val="339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07492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Thank You!</a:t>
            </a:r>
          </a:p>
          <a:p>
            <a:pPr>
              <a:defRPr sz="1400">
                <a:solidFill>
                  <a:srgbClr val="3395FF"/>
                </a:solidFill>
              </a:defRPr>
            </a:pPr>
            <a:r>
              <a:t>RecoverIQ  |  R Yaswanth Raju  |  Razorpay AI Buildathon — Track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