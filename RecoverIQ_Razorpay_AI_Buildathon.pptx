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731520"/>
            <a:ext cx="10728655" cy="54864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88720" y="1188720"/>
            <a:ext cx="3022092" cy="292608"/>
          </a:xfrm>
          <a:prstGeom prst="roundRect">
            <a:avLst/>
          </a:prstGeom>
          <a:solidFill>
            <a:srgbClr val="0E223D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E5FF"/>
                </a:solidFill>
                <a:latin typeface="Consolas"/>
              </a:defRPr>
            </a:pPr>
            <a:r>
              <a:t>RAZORPAY AI BUILDATHON // TRACK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691640"/>
            <a:ext cx="9601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Segoe UI"/>
              </a:defRPr>
            </a:pPr>
            <a:r>
              <a:t>RecoverIQ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88920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E5FF"/>
                </a:solidFill>
                <a:latin typeface="Segoe UI"/>
              </a:defRPr>
            </a:pPr>
            <a:r>
              <a:t>Autonomous AI Revenue Recovery Opportunity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42900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  <a:latin typeface="Segoe UI"/>
              </a:defRPr>
            </a:pPr>
            <a:r>
              <a:t>Core Paradigm: "Detect. Predict. Prioritize. Recover — safely."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4114800"/>
            <a:ext cx="2331720" cy="1005840"/>
          </a:xfrm>
          <a:prstGeom prst="roundRect">
            <a:avLst/>
          </a:prstGeom>
          <a:solidFill>
            <a:srgbClr val="0C1220"/>
          </a:solidFill>
          <a:ln w="15240">
            <a:solidFill>
              <a:srgbClr val="1C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88720" y="4114800"/>
            <a:ext cx="2331720" cy="54864"/>
          </a:xfrm>
          <a:prstGeom prst="roundRect">
            <a:avLst/>
          </a:prstGeom>
          <a:solidFill>
            <a:srgbClr val="339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4187952"/>
            <a:ext cx="21122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3395FF"/>
                </a:solidFill>
                <a:latin typeface="Consolas"/>
              </a:defRPr>
            </a:pPr>
            <a:r>
              <a:t>INFERENCE ENGINE</a:t>
            </a:r>
          </a:p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Gradient Boosted Trees (Calibrated Deciles)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85032" y="4114800"/>
            <a:ext cx="2331720" cy="1005840"/>
          </a:xfrm>
          <a:prstGeom prst="roundRect">
            <a:avLst/>
          </a:prstGeom>
          <a:solidFill>
            <a:srgbClr val="0C1220"/>
          </a:solidFill>
          <a:ln w="15240">
            <a:solidFill>
              <a:srgbClr val="1C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5032" y="4114800"/>
            <a:ext cx="2331720" cy="54864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4187952"/>
            <a:ext cx="21122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6366F1"/>
                </a:solidFill>
                <a:latin typeface="Consolas"/>
              </a:defRPr>
            </a:pPr>
            <a:r>
              <a:t>OPTIMIZATION CORE</a:t>
            </a:r>
          </a:p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0/1 Knapsack Dynamic Programming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4114800"/>
            <a:ext cx="2331720" cy="1005840"/>
          </a:xfrm>
          <a:prstGeom prst="roundRect">
            <a:avLst/>
          </a:prstGeom>
          <a:solidFill>
            <a:srgbClr val="0C1220"/>
          </a:solidFill>
          <a:ln w="15240">
            <a:solidFill>
              <a:srgbClr val="1C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81344" y="4114800"/>
            <a:ext cx="2331720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2" y="4187952"/>
            <a:ext cx="21122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0B981"/>
                </a:solidFill>
                <a:latin typeface="Consolas"/>
              </a:defRPr>
            </a:pPr>
            <a:r>
              <a:t>SAFETY RAILS</a:t>
            </a:r>
          </a:p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Deterministic Spend &amp; Cooldown Firewall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77656" y="4114800"/>
            <a:ext cx="2331720" cy="1005840"/>
          </a:xfrm>
          <a:prstGeom prst="roundRect">
            <a:avLst/>
          </a:prstGeom>
          <a:solidFill>
            <a:srgbClr val="0C1220"/>
          </a:solidFill>
          <a:ln w="15240">
            <a:solidFill>
              <a:srgbClr val="1C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77656" y="4114800"/>
            <a:ext cx="2331720" cy="54864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87384" y="4187952"/>
            <a:ext cx="21122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00E5FF"/>
                </a:solidFill>
                <a:latin typeface="Consolas"/>
              </a:defRPr>
            </a:pPr>
            <a:r>
              <a:t>INTEGRATION</a:t>
            </a:r>
          </a:p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Native Razorpay Test Mode &amp; Webhooks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30352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7891B4"/>
                </a:solidFill>
                <a:latin typeface="Consolas"/>
              </a:defRPr>
            </a:pPr>
            <a:r>
              <a:t>Architected &amp; Presented by: R Yaswanth Raju  |  Platform: FastAPI, SQLite, scikit-learn, Razorpay SDK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E8C"/>
                </a:solidFill>
                <a:latin typeface="Consolas"/>
              </a:defRPr>
            </a:pPr>
            <a:r>
              <a:t>RecoverIQ  //  AI Revenue Recovery Opportunity Engine  |  Razorpay AI Buildathon (Track 3)  |  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1778508" cy="292608"/>
          </a:xfrm>
          <a:prstGeom prst="roundRect">
            <a:avLst/>
          </a:prstGeom>
          <a:solidFill>
            <a:srgbClr val="102036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E5FF"/>
                </a:solidFill>
                <a:latin typeface="Consolas"/>
              </a:defRPr>
            </a:pPr>
            <a:r>
              <a:t>DIAGNOSTIC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Revenue leaks through more than one door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Merchants lose revenue across four distinct channels, and not every recoverable rupee is worth equal effort to chase.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2542032" cy="434340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2542032" cy="54864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2176272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50" b="1">
                <a:solidFill>
                  <a:srgbClr val="F43F5E"/>
                </a:solidFill>
                <a:latin typeface="Consolas"/>
              </a:defRPr>
            </a:pPr>
            <a:r>
              <a:t>01 / FAILED CHECKOUTS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Payment Gateway Friction</a:t>
            </a:r>
          </a:p>
          <a:p>
            <a:pPr>
              <a:spcAft>
                <a:spcPts val="1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Card declines, issuer bank network timeouts, 3DS authentication drops, and insufficient account balance.</a:t>
            </a:r>
          </a:p>
          <a:p>
            <a:pPr>
              <a:spcAft>
                <a:spcPts val="400"/>
              </a:spcAft>
              <a:defRPr sz="1000" b="1">
                <a:solidFill>
                  <a:srgbClr val="F43F5E"/>
                </a:solidFill>
                <a:latin typeface="Consolas"/>
              </a:defRPr>
            </a:pPr>
            <a:r>
              <a:t>CORE RISK:</a:t>
            </a:r>
          </a:p>
          <a:p>
            <a:pPr>
              <a:defRPr sz="1150">
                <a:solidFill>
                  <a:srgbClr val="BAE6FD"/>
                </a:solidFill>
                <a:latin typeface="Segoe UI"/>
              </a:defRPr>
            </a:pPr>
            <a:r>
              <a:t>Naive retry storms trigger merchant payment processor throttling and aggravate customers.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828800"/>
            <a:ext cx="2542032" cy="434340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56432" y="1828800"/>
            <a:ext cx="2542032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1965960"/>
            <a:ext cx="2176272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50" b="1">
                <a:solidFill>
                  <a:srgbClr val="F59E0B"/>
                </a:solidFill>
                <a:latin typeface="Consolas"/>
              </a:defRPr>
            </a:pPr>
            <a:r>
              <a:t>02 / PARTIAL PAYMENTS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Abandoned Balances</a:t>
            </a:r>
          </a:p>
          <a:p>
            <a:pPr>
              <a:spcAft>
                <a:spcPts val="1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Token advances or booking deposits paid, but subsequent milestone payments neglected.</a:t>
            </a:r>
          </a:p>
          <a:p>
            <a:pPr>
              <a:spcAft>
                <a:spcPts val="400"/>
              </a:spcAft>
              <a:defRPr sz="1000" b="1">
                <a:solidFill>
                  <a:srgbClr val="F59E0B"/>
                </a:solidFill>
                <a:latin typeface="Consolas"/>
              </a:defRPr>
            </a:pPr>
            <a:r>
              <a:t>CORE RISK:</a:t>
            </a:r>
          </a:p>
          <a:p>
            <a:pPr>
              <a:defRPr sz="1150">
                <a:solidFill>
                  <a:srgbClr val="BAE6FD"/>
                </a:solidFill>
                <a:latin typeface="Segoe UI"/>
              </a:defRPr>
            </a:pPr>
            <a:r>
              <a:t>Manual merchant chasing has a 70% drop-off rate without automated multi-channel links.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828800"/>
            <a:ext cx="2542032" cy="434340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81344" y="1828800"/>
            <a:ext cx="2542032" cy="54864"/>
          </a:xfrm>
          <a:prstGeom prst="roundRect">
            <a:avLst/>
          </a:prstGeom>
          <a:solidFill>
            <a:srgbClr val="339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965960"/>
            <a:ext cx="2176272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50" b="1">
                <a:solidFill>
                  <a:srgbClr val="3395FF"/>
                </a:solidFill>
                <a:latin typeface="Consolas"/>
              </a:defRPr>
            </a:pPr>
            <a:r>
              <a:t>03 / OVERDUE INVOICES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B2B Accounts Receivable</a:t>
            </a:r>
          </a:p>
          <a:p>
            <a:pPr>
              <a:spcAft>
                <a:spcPts val="1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Commercial B2B invoices slipping past 30/60/90 contractual net terms with zero real-time dunning.</a:t>
            </a:r>
          </a:p>
          <a:p>
            <a:pPr>
              <a:spcAft>
                <a:spcPts val="400"/>
              </a:spcAft>
              <a:defRPr sz="1000" b="1">
                <a:solidFill>
                  <a:srgbClr val="3395FF"/>
                </a:solidFill>
                <a:latin typeface="Consolas"/>
              </a:defRPr>
            </a:pPr>
            <a:r>
              <a:t>CORE RISK:</a:t>
            </a:r>
          </a:p>
          <a:p>
            <a:pPr>
              <a:defRPr sz="1150">
                <a:solidFill>
                  <a:srgbClr val="BAE6FD"/>
                </a:solidFill>
                <a:latin typeface="Segoe UI"/>
              </a:defRPr>
            </a:pPr>
            <a:r>
              <a:t>Large balance exposure locked in offline receivables without payment rail automation.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828800"/>
            <a:ext cx="2542032" cy="434340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06256" y="1828800"/>
            <a:ext cx="2542032" cy="54864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9136" y="1965960"/>
            <a:ext cx="2176272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50" b="1">
                <a:solidFill>
                  <a:srgbClr val="00E5FF"/>
                </a:solidFill>
                <a:latin typeface="Consolas"/>
              </a:defRPr>
            </a:pPr>
            <a:r>
              <a:t>04 / REFUND MISMATCHES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Pre-Auth Captures</a:t>
            </a:r>
          </a:p>
          <a:p>
            <a:pPr>
              <a:spcAft>
                <a:spcPts val="1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Pre-authorized gateway transactions captured on hold but unreconciled against order cancellations.</a:t>
            </a:r>
          </a:p>
          <a:p>
            <a:pPr>
              <a:spcAft>
                <a:spcPts val="400"/>
              </a:spcAft>
              <a:defRPr sz="1000" b="1">
                <a:solidFill>
                  <a:srgbClr val="00E5FF"/>
                </a:solidFill>
                <a:latin typeface="Consolas"/>
              </a:defRPr>
            </a:pPr>
            <a:r>
              <a:t>CORE RISK:</a:t>
            </a:r>
          </a:p>
          <a:p>
            <a:pPr>
              <a:defRPr sz="1150">
                <a:solidFill>
                  <a:srgbClr val="BAE6FD"/>
                </a:solidFill>
                <a:latin typeface="Segoe UI"/>
              </a:defRPr>
            </a:pPr>
            <a:r>
              <a:t>Unresolved holds tie up liquidity and trigger high dispute / chargeback operational fees.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E8C"/>
                </a:solidFill>
                <a:latin typeface="Consolas"/>
              </a:defRPr>
            </a:pPr>
            <a:r>
              <a:t>RecoverIQ  //  AI Revenue Recovery Opportunity Engine  |  Razorpay AI Buildathon (Track 3)  |  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322576" cy="292608"/>
          </a:xfrm>
          <a:prstGeom prst="roundRect">
            <a:avLst/>
          </a:prstGeom>
          <a:solidFill>
            <a:srgbClr val="102036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E5FF"/>
                </a:solidFill>
                <a:latin typeface="Consolas"/>
              </a:defRPr>
            </a:pPr>
            <a:r>
              <a:t>AI RECOVERY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One engine that ranks opportunities, not just retries payments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An intelligent closed-loop workflow that transforms noisy payment anomalies into maximized recovered revenue.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2542032" cy="434340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2542032" cy="54864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2176272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00E5FF"/>
                </a:solidFill>
                <a:latin typeface="Consolas"/>
              </a:defRPr>
            </a:pPr>
            <a:r>
              <a:t>STAGE 01</a:t>
            </a:r>
          </a:p>
          <a:p>
            <a:pPr>
              <a:spcAft>
                <a:spcPts val="6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DETECT</a:t>
            </a:r>
          </a:p>
          <a:p>
            <a:pPr>
              <a:spcAft>
                <a:spcPts val="1000"/>
              </a:spcAft>
              <a:defRPr sz="1300" b="1">
                <a:solidFill>
                  <a:srgbClr val="00E5FF"/>
                </a:solidFill>
                <a:latin typeface="Segoe UI"/>
              </a:defRPr>
            </a:pPr>
            <a:r>
              <a:t>Multi-Vector Ingestion Engine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Continuously ingests events from Razorpay checkouts, partial payment agreements, B2B invoices, and pre-authorization queues. Normalizes heterogeneous payment records into unified recovery objects.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828800"/>
            <a:ext cx="2542032" cy="434340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56432" y="1828800"/>
            <a:ext cx="2542032" cy="54864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1965960"/>
            <a:ext cx="2176272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6366F1"/>
                </a:solidFill>
                <a:latin typeface="Consolas"/>
              </a:defRPr>
            </a:pPr>
            <a:r>
              <a:t>STAGE 02</a:t>
            </a:r>
          </a:p>
          <a:p>
            <a:pPr>
              <a:spcAft>
                <a:spcPts val="6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PREDICT</a:t>
            </a:r>
          </a:p>
          <a:p>
            <a:pPr>
              <a:spcAft>
                <a:spcPts val="1000"/>
              </a:spcAft>
              <a:defRPr sz="1300" b="1">
                <a:solidFill>
                  <a:srgbClr val="6366F1"/>
                </a:solidFill>
                <a:latin typeface="Segoe UI"/>
              </a:defRPr>
            </a:pPr>
            <a:r>
              <a:t>Calibrated Machine Learning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Gradient Boosted Decision Trees trained on real behavioral features: delinquency age, customer tenure, historical late payment frequency, issuer switch performance, and transaction ticket size.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828800"/>
            <a:ext cx="2542032" cy="434340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81344" y="1828800"/>
            <a:ext cx="2542032" cy="54864"/>
          </a:xfrm>
          <a:prstGeom prst="roundRect">
            <a:avLst/>
          </a:prstGeom>
          <a:solidFill>
            <a:srgbClr val="339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965960"/>
            <a:ext cx="2176272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3395FF"/>
                </a:solidFill>
                <a:latin typeface="Consolas"/>
              </a:defRPr>
            </a:pPr>
            <a:r>
              <a:t>STAGE 03</a:t>
            </a:r>
          </a:p>
          <a:p>
            <a:pPr>
              <a:spcAft>
                <a:spcPts val="6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PRIORITIZE</a:t>
            </a:r>
          </a:p>
          <a:p>
            <a:pPr>
              <a:spcAft>
                <a:spcPts val="1000"/>
              </a:spcAft>
              <a:defRPr sz="1300" b="1">
                <a:solidFill>
                  <a:srgbClr val="3395FF"/>
                </a:solidFill>
                <a:latin typeface="Segoe UI"/>
              </a:defRPr>
            </a:pPr>
            <a:r>
              <a:t>0/1 Knapsack DP Allocation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Formulates daily dunning as a bounded capacity optimization problem. Solves exact Dynamic Programming to maximize expected value under merchant outreach budget constraints.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828800"/>
            <a:ext cx="2542032" cy="434340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06256" y="1828800"/>
            <a:ext cx="2542032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9136" y="1965960"/>
            <a:ext cx="2176272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  <a:latin typeface="Consolas"/>
              </a:defRPr>
            </a:pPr>
            <a:r>
              <a:t>STAGE 04</a:t>
            </a:r>
          </a:p>
          <a:p>
            <a:pPr>
              <a:spcAft>
                <a:spcPts val="6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RECOVER SAFELY</a:t>
            </a:r>
          </a:p>
          <a:p>
            <a:pPr>
              <a:spcAft>
                <a:spcPts val="10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Deterministic Safety Firewall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Deterministic guardrails enforce spend ceilings, issuer switch health, and dunning frequency backoffs before 1-click execution. Quarantines unverified accounts to human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E8C"/>
                </a:solidFill>
                <a:latin typeface="Consolas"/>
              </a:defRPr>
            </a:pPr>
            <a:r>
              <a:t>RecoverIQ  //  AI Revenue Recovery Opportunity Engine  |  Razorpay AI Buildathon (Track 3)  |  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478024" cy="292608"/>
          </a:xfrm>
          <a:prstGeom prst="roundRect">
            <a:avLst/>
          </a:prstGeom>
          <a:solidFill>
            <a:srgbClr val="102036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E5FF"/>
                </a:solidFill>
                <a:latin typeface="Consolas"/>
              </a:defRPr>
            </a:pPr>
            <a:r>
              <a:t>END-TO-END SYSTEM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From a raw event to a verified, audited 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Every transaction progresses through an 8-stage deterministic and predictive state machine.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1243584" cy="1051560"/>
          </a:xfrm>
          <a:prstGeom prst="roundRect">
            <a:avLst/>
          </a:prstGeom>
          <a:solidFill>
            <a:srgbClr val="0C121E"/>
          </a:solidFill>
          <a:ln w="12700">
            <a:solidFill>
              <a:srgbClr val="283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283855"/>
                </a:solidFill>
                <a:latin typeface="Consolas"/>
              </a:defRPr>
            </a:pPr>
            <a:r>
              <a:t>NODE 01</a:t>
            </a:r>
          </a:p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Raw Event Ingestion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2" y="1828800"/>
            <a:ext cx="1243584" cy="1051560"/>
          </a:xfrm>
          <a:prstGeom prst="roundRect">
            <a:avLst/>
          </a:prstGeom>
          <a:solidFill>
            <a:srgbClr val="0C121E"/>
          </a:solidFill>
          <a:ln w="12700">
            <a:solidFill>
              <a:srgbClr val="283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283855"/>
                </a:solidFill>
                <a:latin typeface="Consolas"/>
              </a:defRPr>
            </a:pPr>
            <a:r>
              <a:t>NODE 02</a:t>
            </a:r>
          </a:p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Vector Detector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8144" y="1828800"/>
            <a:ext cx="1243584" cy="105156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0E5FF"/>
                </a:solidFill>
                <a:latin typeface="Consolas"/>
              </a:defRPr>
            </a:pPr>
            <a:r>
              <a:t>NODE 03</a:t>
            </a:r>
          </a:p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GBDT Predictor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91456" y="1828800"/>
            <a:ext cx="1243584" cy="1051560"/>
          </a:xfrm>
          <a:prstGeom prst="roundRect">
            <a:avLst/>
          </a:prstGeom>
          <a:solidFill>
            <a:srgbClr val="0C121E"/>
          </a:solidFill>
          <a:ln w="12700">
            <a:solidFill>
              <a:srgbClr val="283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283855"/>
                </a:solidFill>
                <a:latin typeface="Consolas"/>
              </a:defRPr>
            </a:pPr>
            <a:r>
              <a:t>NODE 04</a:t>
            </a:r>
          </a:p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Expected Value Scorer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828800"/>
            <a:ext cx="1243584" cy="105156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0E5FF"/>
                </a:solidFill>
                <a:latin typeface="Consolas"/>
              </a:defRPr>
            </a:pPr>
            <a:r>
              <a:t>NODE 05</a:t>
            </a:r>
          </a:p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Guardrail Firewall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0" y="1828800"/>
            <a:ext cx="1243584" cy="105156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0E5FF"/>
                </a:solidFill>
                <a:latin typeface="Consolas"/>
              </a:defRPr>
            </a:pPr>
            <a:r>
              <a:t>NODE 06</a:t>
            </a:r>
          </a:p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0/1 Knapsack DP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51392" y="1828800"/>
            <a:ext cx="1243584" cy="105156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0E5FF"/>
                </a:solidFill>
                <a:latin typeface="Consolas"/>
              </a:defRPr>
            </a:pPr>
            <a:r>
              <a:t>NODE 07</a:t>
            </a:r>
          </a:p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Razorpay Dispatch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04704" y="1828800"/>
            <a:ext cx="1243584" cy="1051560"/>
          </a:xfrm>
          <a:prstGeom prst="roundRect">
            <a:avLst/>
          </a:prstGeom>
          <a:solidFill>
            <a:srgbClr val="0C121E"/>
          </a:solidFill>
          <a:ln w="12700">
            <a:solidFill>
              <a:srgbClr val="283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283855"/>
                </a:solidFill>
                <a:latin typeface="Consolas"/>
              </a:defRPr>
            </a:pPr>
            <a:r>
              <a:t>NODE 08</a:t>
            </a:r>
          </a:p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Audit &amp; Cloud Sync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154680"/>
            <a:ext cx="5266944" cy="306324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3154680"/>
            <a:ext cx="5266944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291840"/>
            <a:ext cx="4809744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  <a:latin typeface="Consolas"/>
              </a:defRPr>
            </a:pPr>
            <a:r>
              <a:t>BOUNDED AI SAFETY ARCHITECTURE</a:t>
            </a:r>
          </a:p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A high-value, low-confidence case never executes automatically.</a:t>
            </a:r>
          </a:p>
          <a:p>
            <a:pPr>
              <a:spcAft>
                <a:spcPts val="3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[OK]  Isolation of AI Inference: ML models output probability vectors; hard-coded rules decide actionability.</a:t>
            </a:r>
          </a:p>
          <a:p>
            <a:pPr>
              <a:spcAft>
                <a:spcPts val="3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[OK]  Deterministic Guardrail Firewall: Evaluates spend thresholds, transaction frequency caps, and switch latency.</a:t>
            </a:r>
          </a:p>
          <a:p>
            <a:pPr>
              <a:spcAft>
                <a:spcPts val="3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[OK]  Auto-Quarantine Routing: High-value anomalies (&gt;Rs 10,000) with confidence &lt; 70% are diverted to human review.</a:t>
            </a:r>
          </a:p>
          <a:p>
            <a:pPr>
              <a:spcAft>
                <a:spcPts val="3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[OK]  Zero Hallucination Risk: Mathematical bounds guarantee no fabricated recovery actions or unauthorized retries.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3154680"/>
            <a:ext cx="5266944" cy="306324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90488" y="3154680"/>
            <a:ext cx="5266944" cy="54864"/>
          </a:xfrm>
          <a:prstGeom prst="roundRect">
            <a:avLst/>
          </a:prstGeom>
          <a:solidFill>
            <a:srgbClr val="339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291840"/>
            <a:ext cx="4809744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3395FF"/>
                </a:solidFill>
                <a:latin typeface="Consolas"/>
              </a:defRPr>
            </a:pPr>
            <a:r>
              <a:t>PRODUCTION PIPELINE SPECIFICATIONS</a:t>
            </a:r>
          </a:p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Engineered for high-throughput, fault-tolerant execution.</a:t>
            </a:r>
          </a:p>
          <a:p>
            <a:pPr>
              <a:spcAft>
                <a:spcPts val="3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[&gt;&gt;]  FastAPI Asynchronous Engine: Sub-18ms REST latency with pooled SQLite/SQLAlchemy connections.</a:t>
            </a:r>
          </a:p>
          <a:p>
            <a:pPr>
              <a:spcAft>
                <a:spcPts val="3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[&gt;&gt;]  Razorpay SDK &amp; Webhooks: Direct payment link creation, smart switch retries, and HMAC-SHA256 signature verification.</a:t>
            </a:r>
          </a:p>
          <a:p>
            <a:pPr>
              <a:spcAft>
                <a:spcPts val="3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[&gt;&gt;]  Real-Time Cloud Auto-Sync: Reconciles live payment status directly from Razorpay Cloud without ngrok tunnels.</a:t>
            </a:r>
          </a:p>
          <a:p>
            <a:pPr>
              <a:spcAft>
                <a:spcPts val="3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[&gt;&gt;]  Immutable Audit Ledger: Every recovery outcome, parameter weight, and model score cryptographically stamped.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E8C"/>
                </a:solidFill>
                <a:latin typeface="Consolas"/>
              </a:defRPr>
            </a:pPr>
            <a:r>
              <a:t>RecoverIQ  //  AI Revenue Recovery Opportunity Engine  |  Razorpay AI Buildathon (Track 3)  |  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400300" cy="292608"/>
          </a:xfrm>
          <a:prstGeom prst="roundRect">
            <a:avLst/>
          </a:prstGeom>
          <a:solidFill>
            <a:srgbClr val="102036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E5FF"/>
                </a:solidFill>
                <a:latin typeface="Consolas"/>
              </a:defRPr>
            </a:pPr>
            <a:r>
              <a:t>MATHEMATICAL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Not a sorted list — a solved allocation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Greedy FIFO sorting exhausts operational capacity on low-probability high-effort cases. RecoverIQ solves 0/1 Knapsack DP.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6858000" cy="434340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6858000" cy="54864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640080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6366F1"/>
                </a:solidFill>
                <a:latin typeface="Consolas"/>
              </a:defRPr>
            </a:pPr>
            <a:r>
              <a:t>0/1 KNAPSACK DYNAMIC PROGRAMMING FORMULATION</a:t>
            </a:r>
          </a:p>
          <a:p>
            <a:pPr>
              <a:spcAft>
                <a:spcPts val="1000"/>
              </a:spcAft>
              <a:defRPr sz="1200" b="1">
                <a:solidFill>
                  <a:srgbClr val="00E5FF"/>
                </a:solidFill>
                <a:latin typeface="Consolas"/>
              </a:defRPr>
            </a:pPr>
            <a:r>
              <a:t>Maximize  SUM(x_i * EV_i)   subject to   SUM(x_i * w_i) &lt;= W_daily,   where x_i in {0, 1}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Under a fixed merchant operational capacity of W = 6 effort units per day, the engine computes the global optimal subset of recovery interventions maximizing total expected yield E[V] = P(Recovered) * Amount - Action_Cost.</a:t>
            </a:r>
          </a:p>
          <a:p>
            <a:pPr>
              <a:spcAft>
                <a:spcPts val="400"/>
              </a:spcAft>
              <a:defRPr sz="1100" b="1">
                <a:solidFill>
                  <a:srgbClr val="10B981"/>
                </a:solidFill>
                <a:latin typeface="Consolas"/>
              </a:defRPr>
            </a:pPr>
            <a:r>
              <a:t>OPTIMAL ACTION SUBSET (SELECTED BY DP):</a:t>
            </a:r>
          </a:p>
          <a:p>
            <a:pPr>
              <a:spcAft>
                <a:spcPts val="3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[+] INV-2026-001 (Rs 13,833) | Effort: 2 Units | 86% Prob -&gt; EV: Rs 11,896</a:t>
            </a:r>
          </a:p>
          <a:p>
            <a:pPr>
              <a:spcAft>
                <a:spcPts val="3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[+] INV-2026-002 (Rs 10,159) | Effort: 2 Units | 84% Prob -&gt; EV: Rs 8,533</a:t>
            </a:r>
          </a:p>
          <a:p>
            <a:pPr>
              <a:spcAft>
                <a:spcPts val="3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[+] PARTIAL-INV-002 (Rs 9,520) | Effort: 2 Units | 78% Prob -&gt; EV: Rs 7,425</a:t>
            </a:r>
          </a:p>
          <a:p>
            <a:br/>
            <a:pPr>
              <a:spcAft>
                <a:spcPts val="200"/>
              </a:spcAft>
              <a:defRPr sz="1100" b="1">
                <a:solidFill>
                  <a:srgbClr val="F43F5E"/>
                </a:solidFill>
                <a:latin typeface="Consolas"/>
              </a:defRPr>
            </a:pPr>
            <a:r>
              <a:t>SUBOPTIMAL REJECT (KNAPSACK DENSITY TRADE-OFF):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  [-] INV-2026-003 (Rs 15,200) — Exceeds remaining budget (requires 2 units, 0 remaining). Lower EV-per-effort density than the chosen combination. Plain sorting would have naively picked this and lost Rs 13,000+ in other recoveries.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828800"/>
            <a:ext cx="3657600" cy="4343400"/>
          </a:xfrm>
          <a:prstGeom prst="roundRect">
            <a:avLst/>
          </a:prstGeom>
          <a:solidFill>
            <a:srgbClr val="0E192D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18120" y="1828800"/>
            <a:ext cx="3657600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03120"/>
            <a:ext cx="320040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0E5FF"/>
                </a:solidFill>
                <a:latin typeface="Consolas"/>
              </a:defRPr>
            </a:pPr>
            <a:r>
              <a:t>QUANTIFIABLE RECOVERY LIFT</a:t>
            </a:r>
          </a:p>
          <a:p>
            <a:pPr>
              <a:spcAft>
                <a:spcPts val="1000"/>
              </a:spcAft>
              <a:defRPr sz="5800" b="1">
                <a:solidFill>
                  <a:srgbClr val="10B981"/>
                </a:solidFill>
                <a:latin typeface="Segoe UI"/>
              </a:defRPr>
            </a:pPr>
            <a:r>
              <a:t>+72.8%</a:t>
            </a:r>
          </a:p>
          <a:p>
            <a:pPr>
              <a:spcAft>
                <a:spcPts val="14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Higher expected revenue recovery compared to naive First-In-First-Out (FIFO) queue processing.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Empirical Validation:</a:t>
            </a:r>
            <a:br/>
            <a:r>
              <a:t>Tested against synthetic ground-truth recovery sets under identical staff capacity budgets. Dynamic programming consistently unlocks the global maximum.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E8C"/>
                </a:solidFill>
                <a:latin typeface="Consolas"/>
              </a:defRPr>
            </a:pPr>
            <a:r>
              <a:t>RecoverIQ  //  AI Revenue Recovery Opportunity Engine  |  Razorpay AI Buildathon (Track 3)  |  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011680" cy="292608"/>
          </a:xfrm>
          <a:prstGeom prst="roundRect">
            <a:avLst/>
          </a:prstGeom>
          <a:solidFill>
            <a:srgbClr val="102036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E5FF"/>
                </a:solidFill>
                <a:latin typeface="Consolas"/>
              </a:defRPr>
            </a:pPr>
            <a:r>
              <a:t>BOUNDED AI TELEMETRY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AI explains the decision. It never makes the call alone.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Confidence is derived strictly from the calibrated statistical model — never from an unverified generative LLM hallucination.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266944" cy="434340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5266944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480974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0B981"/>
                </a:solidFill>
                <a:latin typeface="Consolas"/>
              </a:defRPr>
            </a:pPr>
            <a:r>
              <a:t>TELEMETRY AUDIT: CASE 01 // APPROVED</a:t>
            </a:r>
          </a:p>
          <a:p>
            <a:pPr>
              <a:defRPr sz="1000" b="1">
                <a:solidFill>
                  <a:srgbClr val="00E5FF"/>
                </a:solidFill>
                <a:latin typeface="Consolas"/>
              </a:defRPr>
            </a:pPr>
            <a:r>
              <a:t>Opportunity ID: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  OPP_PARTIAL_INV_PARTIAL_01 (Rs 9,520)</a:t>
            </a:r>
          </a:p>
          <a:p>
            <a:pPr>
              <a:defRPr sz="1000" b="1">
                <a:solidFill>
                  <a:srgbClr val="00E5FF"/>
                </a:solidFill>
                <a:latin typeface="Consolas"/>
              </a:defRPr>
            </a:pPr>
            <a:r>
              <a:t>Detected Root Cause: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  Token advance paid, balance installment unpaid for 3 days</a:t>
            </a:r>
          </a:p>
          <a:p>
            <a:pPr>
              <a:defRPr sz="1000" b="1">
                <a:solidFill>
                  <a:srgbClr val="00E5FF"/>
                </a:solidFill>
                <a:latin typeface="Consolas"/>
              </a:defRPr>
            </a:pPr>
            <a:r>
              <a:t>Recommended Action: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  1-Click WhatsApp payment recovery link with tailored expiry</a:t>
            </a:r>
          </a:p>
          <a:p>
            <a:pPr>
              <a:defRPr sz="1000" b="1">
                <a:solidFill>
                  <a:srgbClr val="00E5FF"/>
                </a:solidFill>
                <a:latin typeface="Consolas"/>
              </a:defRPr>
            </a:pPr>
            <a:r>
              <a:t>Model Confidence: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  85.4% [HIGH CONFIDENCE TIER] — Calibrated GBDT probability</a:t>
            </a:r>
          </a:p>
          <a:p>
            <a:pPr>
              <a:defRPr sz="1000" b="1">
                <a:solidFill>
                  <a:srgbClr val="00E5FF"/>
                </a:solidFill>
                <a:latin typeface="Consolas"/>
              </a:defRPr>
            </a:pPr>
            <a:r>
              <a:t>Deterministic Firewall: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  PASSED — Spend ceiling respected, switch latency nominal, no spam cooldown active</a:t>
            </a:r>
          </a:p>
          <a:p>
            <a:pPr>
              <a:defRPr sz="1000" b="1">
                <a:solidFill>
                  <a:srgbClr val="00E5FF"/>
                </a:solidFill>
                <a:latin typeface="Consolas"/>
              </a:defRPr>
            </a:pPr>
            <a:r>
              <a:t>System Execution: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  Auto-approved &amp; dispatched directly to Razorpay payment rails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828800"/>
            <a:ext cx="5266944" cy="434340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90488" y="1828800"/>
            <a:ext cx="5266944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965960"/>
            <a:ext cx="480974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59E0B"/>
                </a:solidFill>
                <a:latin typeface="Consolas"/>
              </a:defRPr>
            </a:pPr>
            <a:r>
              <a:t>TELEMETRY AUDIT: CASE 02 // QUARANTINED</a:t>
            </a:r>
          </a:p>
          <a:p>
            <a:pPr>
              <a:defRPr sz="1000" b="1">
                <a:solidFill>
                  <a:srgbClr val="F59E0B"/>
                </a:solidFill>
                <a:latin typeface="Consolas"/>
              </a:defRPr>
            </a:pPr>
            <a:r>
              <a:t>Opportunity ID: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  OPP_INVOICE_OVERDUE_99 (Rs 12,400)</a:t>
            </a:r>
          </a:p>
          <a:p>
            <a:pPr>
              <a:defRPr sz="1000" b="1">
                <a:solidFill>
                  <a:srgbClr val="F59E0B"/>
                </a:solidFill>
                <a:latin typeface="Consolas"/>
              </a:defRPr>
            </a:pPr>
            <a:r>
              <a:t>Detected Root Cause: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  High-value commercial invoice, zero prior transaction history</a:t>
            </a:r>
          </a:p>
          <a:p>
            <a:pPr>
              <a:defRPr sz="1000" b="1">
                <a:solidFill>
                  <a:srgbClr val="F59E0B"/>
                </a:solidFill>
                <a:latin typeface="Consolas"/>
              </a:defRPr>
            </a:pPr>
            <a:r>
              <a:t>Recommended Action: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  Manual executive phone outreach prior to automated dunning</a:t>
            </a:r>
          </a:p>
          <a:p>
            <a:pPr>
              <a:defRPr sz="1000" b="1">
                <a:solidFill>
                  <a:srgbClr val="F59E0B"/>
                </a:solidFill>
                <a:latin typeface="Consolas"/>
              </a:defRPr>
            </a:pPr>
            <a:r>
              <a:t>Model Confidence: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  46.2% [LOW CONFIDENCE TIER] — Below 70% threshold for tickets &gt; Rs 10k</a:t>
            </a:r>
          </a:p>
          <a:p>
            <a:pPr>
              <a:defRPr sz="1000" b="1">
                <a:solidFill>
                  <a:srgbClr val="F59E0B"/>
                </a:solidFill>
                <a:latin typeface="Consolas"/>
              </a:defRPr>
            </a:pPr>
            <a:r>
              <a:t>Deterministic Firewall: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  BLOCKED / QUARANTINED — High monetary risk + low predictive confidence</a:t>
            </a:r>
          </a:p>
          <a:p>
            <a:pPr>
              <a:defRPr sz="1000" b="1">
                <a:solidFill>
                  <a:srgbClr val="F59E0B"/>
                </a:solidFill>
                <a:latin typeface="Consolas"/>
              </a:defRPr>
            </a:pPr>
            <a:r>
              <a:t>System Execution: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  Quarantined. Routed to merchant admin review queue with zero automated dispatch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E8C"/>
                </a:solidFill>
                <a:latin typeface="Consolas"/>
              </a:defRPr>
            </a:pPr>
            <a:r>
              <a:t>RecoverIQ  //  AI Revenue Recovery Opportunity Engine  |  Razorpay AI Buildathon (Track 3)  |  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3177540" cy="292608"/>
          </a:xfrm>
          <a:prstGeom prst="roundRect">
            <a:avLst/>
          </a:prstGeom>
          <a:solidFill>
            <a:srgbClr val="102036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E5FF"/>
                </a:solidFill>
                <a:latin typeface="Consolas"/>
              </a:defRPr>
            </a:pPr>
            <a:r>
              <a:t>EMPIRICAL OUTCOMES &amp; RECONCILIATION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Measured, not claimed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Live platform metrics reconciled directly against Razorpay Cloud payment events.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2542032" cy="169164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2542032" cy="54864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74519"/>
            <a:ext cx="221284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F43F5E"/>
                </a:solidFill>
                <a:latin typeface="Consolas"/>
              </a:defRPr>
            </a:pPr>
            <a:r>
              <a:t>TOTAL AT-RISK VOLUME</a:t>
            </a:r>
          </a:p>
          <a:p>
            <a:pPr>
              <a:spcAft>
                <a:spcPts val="2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Rs 74,149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12 Active Opportunities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783080"/>
            <a:ext cx="2542032" cy="169164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56432" y="1783080"/>
            <a:ext cx="2542032" cy="54864"/>
          </a:xfrm>
          <a:prstGeom prst="roundRect">
            <a:avLst/>
          </a:prstGeom>
          <a:solidFill>
            <a:srgbClr val="339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874519"/>
            <a:ext cx="221284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3395FF"/>
                </a:solidFill>
                <a:latin typeface="Consolas"/>
              </a:defRPr>
            </a:pPr>
            <a:r>
              <a:t>PREDICTED RECOVERABLE</a:t>
            </a:r>
          </a:p>
          <a:p>
            <a:pPr>
              <a:spcAft>
                <a:spcPts val="2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Rs 60,673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Statistical Expected Pool (EV)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783080"/>
            <a:ext cx="2542032" cy="169164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81344" y="1783080"/>
            <a:ext cx="2542032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1874519"/>
            <a:ext cx="221284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0B981"/>
                </a:solidFill>
                <a:latin typeface="Consolas"/>
              </a:defRPr>
            </a:pPr>
            <a:r>
              <a:t>ACTUALLY SETTLED</a:t>
            </a:r>
          </a:p>
          <a:p>
            <a:pPr>
              <a:spcAft>
                <a:spcPts val="2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Rs 21,049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Reconciled via Razorpay 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783080"/>
            <a:ext cx="2542032" cy="169164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06256" y="1783080"/>
            <a:ext cx="2542032" cy="54864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1874519"/>
            <a:ext cx="221284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00E5FF"/>
                </a:solidFill>
                <a:latin typeface="Consolas"/>
              </a:defRPr>
            </a:pPr>
            <a:r>
              <a:t>RECOVERY RATE</a:t>
            </a:r>
          </a:p>
          <a:p>
            <a:pPr>
              <a:spcAft>
                <a:spcPts val="2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28.4%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Delinquent Capital Settled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657600"/>
            <a:ext cx="10728655" cy="265176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3657600"/>
            <a:ext cx="10728655" cy="54864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794760"/>
            <a:ext cx="10241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E5FF"/>
                </a:solidFill>
                <a:latin typeface="Consolas"/>
              </a:defRPr>
            </a:pPr>
            <a:r>
              <a:t>REVENUE RECOVERY RATE BY LEAKAGE CHANNEL</a:t>
            </a:r>
          </a:p>
          <a:p>
            <a:pPr>
              <a:spcAft>
                <a:spcPts val="4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  *  Failed Checkouts [100.0%]:  Instant switch failover retries and 1-click fallback links captured immediate bank card decline recoverables.</a:t>
            </a:r>
          </a:p>
          <a:p>
            <a:pPr>
              <a:spcAft>
                <a:spcPts val="4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  *  Partial Payments [37.8%]:  Automated WhatsApp and SMS dunning links with tailored expiry successfully converted abandoned installments.</a:t>
            </a:r>
          </a:p>
          <a:p>
            <a:pPr>
              <a:spcAft>
                <a:spcPts val="4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  *  Overdue Invoices [Active / In Progress]:  B2B commercial invoice payment links generated with unique reference tracking and automated reminder intervals.</a:t>
            </a:r>
          </a:p>
          <a:p>
            <a:pPr>
              <a:spcAft>
                <a:spcPts val="4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  *  Refund Mismatches [Reconciled]:  Pre-authorization capture executed safely within the deterministic Rs 7,500 safety threshold.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E8C"/>
                </a:solidFill>
                <a:latin typeface="Consolas"/>
              </a:defRPr>
            </a:pPr>
            <a:r>
              <a:t>RecoverIQ  //  AI Revenue Recovery Opportunity Engine  |  Razorpay AI Buildathon (Track 3)  |  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788920" cy="292608"/>
          </a:xfrm>
          <a:prstGeom prst="roundRect">
            <a:avLst/>
          </a:prstGeom>
          <a:solidFill>
            <a:srgbClr val="102036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E5FF"/>
                </a:solidFill>
                <a:latin typeface="Consolas"/>
              </a:defRPr>
            </a:pPr>
            <a:r>
              <a:t>MODEL CALIBRATION &amp;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Built to be checked, not just demoed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Evaluating predictive discrimination, empirical reliability, and high-concurrency production architecture.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266944" cy="434340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5266944" cy="54864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480974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E5FF"/>
                </a:solidFill>
                <a:latin typeface="Consolas"/>
              </a:defRPr>
            </a:pPr>
            <a:r>
              <a:t>HELD-OUT EVALUATION SET BENCHMARKS</a:t>
            </a:r>
          </a:p>
          <a:p>
            <a:pPr>
              <a:defRPr sz="1800" b="1">
                <a:solidFill>
                  <a:srgbClr val="10B981"/>
                </a:solidFill>
                <a:latin typeface="Consolas"/>
              </a:defRPr>
            </a:pPr>
            <a:r>
              <a:t>RECALL:  0.84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  Deliberately prioritized sensitivity (class_weight='balanced')</a:t>
            </a:r>
          </a:p>
          <a:p>
            <a:pPr>
              <a:defRPr sz="1800" b="1">
                <a:solidFill>
                  <a:srgbClr val="10B981"/>
                </a:solidFill>
                <a:latin typeface="Consolas"/>
              </a:defRPr>
            </a:pPr>
            <a:r>
              <a:t>PRECISION:  0.53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  Disciplined selectivity avoiding merchant spam</a:t>
            </a:r>
          </a:p>
          <a:p>
            <a:pPr>
              <a:defRPr sz="1800" b="1">
                <a:solidFill>
                  <a:srgbClr val="10B981"/>
                </a:solidFill>
                <a:latin typeface="Consolas"/>
              </a:defRPr>
            </a:pPr>
            <a:r>
              <a:t>ROC-AUC:  0.70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  Discriminative separation capability on noisy payment signals</a:t>
            </a:r>
          </a:p>
          <a:p>
            <a:pPr>
              <a:defRPr sz="1800" b="1">
                <a:solidFill>
                  <a:srgbClr val="10B981"/>
                </a:solidFill>
                <a:latin typeface="Consolas"/>
              </a:defRPr>
            </a:pPr>
            <a:r>
              <a:t>BRIER SKILL SCORE:  0.12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  Low probability calibration error verified across deciles</a:t>
            </a:r>
          </a:p>
          <a:p>
            <a:pPr>
              <a:defRPr sz="1100">
                <a:solidFill>
                  <a:srgbClr val="BAE6FD"/>
                </a:solidFill>
                <a:latin typeface="Segoe UI"/>
              </a:defRPr>
            </a:pPr>
            <a:r>
              <a:t>Design Decision: Recall was prioritized intentionally. In delinquent revenue recovery, missing a recoverable payment incurs a 100% loss of that capital, whereas a false-positive outreach only incurs a marginal message cost (Rs 4.00).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828800"/>
            <a:ext cx="5266944" cy="434340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90488" y="1828800"/>
            <a:ext cx="5266944" cy="54864"/>
          </a:xfrm>
          <a:prstGeom prst="roundRect">
            <a:avLst/>
          </a:prstGeom>
          <a:solidFill>
            <a:srgbClr val="339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965960"/>
            <a:ext cx="480974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3395FF"/>
                </a:solidFill>
                <a:latin typeface="Consolas"/>
              </a:defRPr>
            </a:pPr>
            <a:r>
              <a:t>PRODUCTION ARCHITECTURE HIGHLIGHTS</a:t>
            </a:r>
          </a:p>
          <a:p>
            <a:pPr>
              <a:defRPr sz="1200" b="1">
                <a:solidFill>
                  <a:srgbClr val="00E5FF"/>
                </a:solidFill>
                <a:latin typeface="Consolas"/>
              </a:defRPr>
            </a:pPr>
            <a:r>
              <a:t>[*]  FastAPI &amp; Async SQLite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     High-concurrency typed API layer with connection pooling and idempotent transactional commits.</a:t>
            </a:r>
          </a:p>
          <a:p>
            <a:pPr>
              <a:defRPr sz="1200" b="1">
                <a:solidFill>
                  <a:srgbClr val="00E5FF"/>
                </a:solidFill>
                <a:latin typeface="Consolas"/>
              </a:defRPr>
            </a:pPr>
            <a:r>
              <a:t>[*]  scikit-learn GBDT &amp; Calibration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     Gradient Boosted Decision Tree pipeline with isotonic decile probability calibration curves.</a:t>
            </a:r>
          </a:p>
          <a:p>
            <a:pPr>
              <a:defRPr sz="1200" b="1">
                <a:solidFill>
                  <a:srgbClr val="00E5FF"/>
                </a:solidFill>
                <a:latin typeface="Consolas"/>
              </a:defRPr>
            </a:pPr>
            <a:r>
              <a:t>[*]  Razorpay SDK &amp; Cloud Sync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     Native payment links, smart switch retries, and continuous cloud-based payment reconciliation.</a:t>
            </a:r>
          </a:p>
          <a:p>
            <a:pPr>
              <a:defRPr sz="1200" b="1">
                <a:solidFill>
                  <a:srgbClr val="00E5FF"/>
                </a:solidFill>
                <a:latin typeface="Consolas"/>
              </a:defRPr>
            </a:pPr>
            <a:r>
              <a:t>[*]  Security &amp; Idempotency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     HMAC-SHA256 signature verification, unique reference IDs (&lt;40 chars), and cryptographic audit trail.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E8C"/>
                </a:solidFill>
                <a:latin typeface="Consolas"/>
              </a:defRPr>
            </a:pPr>
            <a:r>
              <a:t>RecoverIQ  //  AI Revenue Recovery Opportunity Engine  |  Razorpay AI Buildathon (Track 3)  |  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1778508" cy="292608"/>
          </a:xfrm>
          <a:prstGeom prst="roundRect">
            <a:avLst/>
          </a:prstGeom>
          <a:solidFill>
            <a:srgbClr val="102036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E5FF"/>
                </a:solidFill>
                <a:latin typeface="Consolas"/>
              </a:defRPr>
            </a:pPr>
            <a:r>
              <a:t>HORIZONS &amp;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A decision system, not a retry 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The foundation for autonomous financial resilience across the modern merchant economy.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3456432" cy="315468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3456432" cy="54864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3127248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00E5FF"/>
                </a:solidFill>
                <a:latin typeface="Consolas"/>
              </a:defRPr>
            </a:pPr>
            <a:r>
              <a:t>01 / REINFORCEMENT</a:t>
            </a:r>
          </a:p>
          <a:p>
            <a:pPr>
              <a:spcAft>
                <a:spcPts val="800"/>
              </a:spcAft>
              <a:defRPr sz="1700" b="1">
                <a:solidFill>
                  <a:srgbClr val="FFFFFF"/>
                </a:solidFill>
                <a:latin typeface="Segoe UI"/>
              </a:defRPr>
            </a:pPr>
            <a:r>
              <a:t>Online Feedback Loop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Real recovery outcomes stream into periodic Bayesian model retraining, adapting dynamically to seasonal bank decline rates and customer behavioral shifts.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828800"/>
            <a:ext cx="3456432" cy="315468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0832" y="1828800"/>
            <a:ext cx="3456432" cy="54864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965960"/>
            <a:ext cx="3127248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6366F1"/>
                </a:solidFill>
                <a:latin typeface="Consolas"/>
              </a:defRPr>
            </a:pPr>
            <a:r>
              <a:t>02 / EXPANSION</a:t>
            </a:r>
          </a:p>
          <a:p>
            <a:pPr>
              <a:spcAft>
                <a:spcPts val="800"/>
              </a:spcAft>
              <a:defRPr sz="1700" b="1">
                <a:solidFill>
                  <a:srgbClr val="FFFFFF"/>
                </a:solidFill>
                <a:latin typeface="Segoe UI"/>
              </a:defRPr>
            </a:pPr>
            <a:r>
              <a:t>Multi-Rail Recovery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Expanding vector coverage into recurring subscription mandate failures (UPI Autopay), SaaS churn recovery, and proactive chargeback dispute mitigation.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828800"/>
            <a:ext cx="3456432" cy="3154680"/>
          </a:xfrm>
          <a:prstGeom prst="roundRect">
            <a:avLst/>
          </a:prstGeom>
          <a:solidFill>
            <a:srgbClr val="10182A"/>
          </a:solidFill>
          <a:ln w="15240">
            <a:solidFill>
              <a:srgbClr val="21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10144" y="1828800"/>
            <a:ext cx="3456432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965960"/>
            <a:ext cx="3127248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  <a:latin typeface="Consolas"/>
              </a:defRPr>
            </a:pPr>
            <a:r>
              <a:t>03 / DRIFT RADAR</a:t>
            </a:r>
          </a:p>
          <a:p>
            <a:pPr>
              <a:spcAft>
                <a:spcPts val="800"/>
              </a:spcAft>
              <a:defRPr sz="1700" b="1">
                <a:solidFill>
                  <a:srgbClr val="FFFFFF"/>
                </a:solidFill>
                <a:latin typeface="Segoe UI"/>
              </a:defRPr>
            </a:pPr>
            <a:r>
              <a:t>Real-Time Calibration Radar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Automated sliding-window telemetry tracking predicted probability vs. empirical settlement rate, alerting merchants before model degradation affects yield.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166360"/>
            <a:ext cx="10728655" cy="1188720"/>
          </a:xfrm>
          <a:prstGeom prst="roundRect">
            <a:avLst/>
          </a:prstGeom>
          <a:solidFill>
            <a:srgbClr val="0E182C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5166360"/>
            <a:ext cx="10728655" cy="54864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257800"/>
            <a:ext cx="102714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RecoverIQ: Detect. Predict. Prioritize. Recover — safely.</a:t>
            </a:r>
          </a:p>
          <a:p>
            <a:pPr>
              <a:defRPr sz="1200" b="1">
                <a:solidFill>
                  <a:srgbClr val="00E5FF"/>
                </a:solidFill>
                <a:latin typeface="Consolas"/>
              </a:defRPr>
            </a:pPr>
            <a:r>
              <a:t>Thank you!  |  Presenter &amp; Architect: R Yaswanth Raju  |  Razorpay AI Buildathon 2026 (Track 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E8C"/>
                </a:solidFill>
                <a:latin typeface="Consolas"/>
              </a:defRPr>
            </a:pPr>
            <a:r>
              <a:t>RecoverIQ  //  AI Revenue Recovery Opportunity Engine  |  Razorpay AI Buildathon (Track 3)  |  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