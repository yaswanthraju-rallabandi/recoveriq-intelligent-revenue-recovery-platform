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10728655" cy="5486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188720"/>
            <a:ext cx="3022092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Consolas"/>
              </a:defRPr>
            </a:pPr>
            <a:r>
              <a:t>RAZORPAY AI BUILDATHON // TRACK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9164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F172A"/>
                </a:solidFill>
                <a:latin typeface="Segoe UI"/>
              </a:defRPr>
            </a:pPr>
            <a:r>
              <a:t>RecoverIQ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Segoe UI"/>
              </a:defRPr>
            </a:pPr>
            <a:r>
              <a:t>AI Revenue Recovery Opportunity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290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Segoe UI"/>
              </a:defRPr>
            </a:pPr>
            <a:r>
              <a:t>Detect. Predict. Prioritize. Recover — safely.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114800"/>
            <a:ext cx="23317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4114800"/>
            <a:ext cx="2331720" cy="5486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4187952"/>
            <a:ext cx="21122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284C7"/>
                </a:solidFill>
                <a:latin typeface="Consolas"/>
              </a:defRPr>
            </a:pPr>
            <a:r>
              <a:t>INFERENCE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Calibrated GBDT Deciles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85032" y="4114800"/>
            <a:ext cx="23317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5032" y="4114800"/>
            <a:ext cx="2331720" cy="5486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4187952"/>
            <a:ext cx="21122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F172A"/>
                </a:solidFill>
                <a:latin typeface="Consolas"/>
              </a:defRPr>
            </a:pPr>
            <a:r>
              <a:t>OPTIMIZATION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0/1 Knapsack 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4114800"/>
            <a:ext cx="23317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4" y="4114800"/>
            <a:ext cx="2331720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4187952"/>
            <a:ext cx="21122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59669"/>
                </a:solidFill>
                <a:latin typeface="Consolas"/>
              </a:defRPr>
            </a:pPr>
            <a:r>
              <a:t>SAFETY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Deterministic Bounds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77656" y="4114800"/>
            <a:ext cx="23317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77656" y="4114800"/>
            <a:ext cx="2331720" cy="54864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87384" y="4187952"/>
            <a:ext cx="21122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66FF"/>
                </a:solidFill>
                <a:latin typeface="Consolas"/>
              </a:defRPr>
            </a:pPr>
            <a:r>
              <a:t>INTEGRATION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Razorpay Test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3035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Presenter: R Yaswanth Raju  |  Platform: FastAPI, SQLite, scikit-learn, Razorpay 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RecoverIQ  |  AI Revenue Recovery Engine  |  Razorpay AI Buildathon  |  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1312164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Consolas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Revenue leaks through more than one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Merchants lose revenue across four distinct channels. Not every recoverable rupee is worth equal effort to chase.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4203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542032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1762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E11D48"/>
                </a:solidFill>
                <a:latin typeface="Consolas"/>
              </a:defRPr>
            </a:pPr>
            <a:r>
              <a:t>01 / FAILED CHECKOUTS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Payment Gateway Friction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Card declines, issuer bank timeouts, 3DS drops, and insufficient funds.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754880"/>
            <a:ext cx="2267712" cy="118872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CORE RISK:</a:t>
            </a:r>
            <a:br/>
            <a:r>
              <a:t>Naive retry storms trigger gateway penalties and spam customers.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828800"/>
            <a:ext cx="254203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56432" y="1828800"/>
            <a:ext cx="2542032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965960"/>
            <a:ext cx="21762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D97706"/>
                </a:solidFill>
                <a:latin typeface="Consolas"/>
              </a:defRPr>
            </a:pPr>
            <a:r>
              <a:t>02 / PARTIAL PAYMENTS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Abandoned Balances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Token advances paid, but subsequent milestone installments neglected.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93592" y="4754880"/>
            <a:ext cx="2267712" cy="1188720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CORE RISK:</a:t>
            </a:r>
            <a:br/>
            <a:r>
              <a:t>Manual merchant chasing has a 70% drop-off rate.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28800"/>
            <a:ext cx="254203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81344" y="1828800"/>
            <a:ext cx="2542032" cy="5486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965960"/>
            <a:ext cx="21762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0F172A"/>
                </a:solidFill>
                <a:latin typeface="Consolas"/>
              </a:defRPr>
            </a:pPr>
            <a:r>
              <a:t>03 / OVERDUE INVOICES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B2B Accounts Receivable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Commercial B2B invoices slipping past 30/60 net terms without dunning.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4754880"/>
            <a:ext cx="2267712" cy="1188720"/>
          </a:xfrm>
          <a:prstGeom prst="roundRect">
            <a:avLst/>
          </a:prstGeom>
          <a:solidFill>
            <a:srgbClr val="E2E8F0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CORE RISK:</a:t>
            </a:r>
            <a:br/>
            <a:r>
              <a:t>Working capital gets permanently locked in offline receivables.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828800"/>
            <a:ext cx="254203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06256" y="1828800"/>
            <a:ext cx="2542032" cy="5486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1965960"/>
            <a:ext cx="21762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0284C7"/>
                </a:solidFill>
                <a:latin typeface="Consolas"/>
              </a:defRPr>
            </a:pPr>
            <a:r>
              <a:t>04 / REFUND MISMATCHES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Pre-Auth Captures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Pre-auth transactions captured on hold but unreconciled against cancellations.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4754880"/>
            <a:ext cx="2267712" cy="1188720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CORE RISK:</a:t>
            </a:r>
            <a:br/>
            <a:r>
              <a:t>Unresolved holds tie up merchant liquidity and create dispute exposure.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RecoverIQ  |  AI Revenue Recovery Engine  |  Razorpay AI Buildathon  |  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1389888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Consolas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Ranks opportunities, not just retries payments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 closed-loop workflow that transforms noisy payment anomalies into prioritized, safe, and audited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4203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542032" cy="5486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1762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Consolas"/>
              </a:defRPr>
            </a:pPr>
            <a:r>
              <a:t>STAGE 01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DETECT</a:t>
            </a:r>
          </a:p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Multi-Vector Ingestion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Continuously ingests events from Razorpay checkouts, partial agreements, B2B invoices, and pre-auth holds. Normalizes records into unified objects.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828800"/>
            <a:ext cx="254203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1828800"/>
            <a:ext cx="2542032" cy="5486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965960"/>
            <a:ext cx="21762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F172A"/>
                </a:solidFill>
                <a:latin typeface="Consolas"/>
              </a:defRPr>
            </a:pPr>
            <a:r>
              <a:t>STAGE 02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PREDICT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Calibrated Machine Learning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Gradient Boosted Decision Trees trained on real behavioral features: delinquency age, tenure, historical late frequency, switch performance, and ticket size.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828800"/>
            <a:ext cx="254203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1344" y="1828800"/>
            <a:ext cx="2542032" cy="54864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965960"/>
            <a:ext cx="21762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066FF"/>
                </a:solidFill>
                <a:latin typeface="Consolas"/>
              </a:defRPr>
            </a:pPr>
            <a:r>
              <a:t>STAGE 03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PRIORITIZE</a:t>
            </a:r>
          </a:p>
          <a:p>
            <a:pPr>
              <a:spcAft>
                <a:spcPts val="1000"/>
              </a:spcAft>
              <a:defRPr sz="1300" b="1">
                <a:solidFill>
                  <a:srgbClr val="0066FF"/>
                </a:solidFill>
                <a:latin typeface="Segoe UI"/>
              </a:defRPr>
            </a:pPr>
            <a:r>
              <a:t>0/1 Knapsack DP Allocation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Formulates daily dunning as a bounded capacity optimization problem. Solves exact Dynamic Programming to maximize expected value under constraints.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828800"/>
            <a:ext cx="254203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06256" y="1828800"/>
            <a:ext cx="2542032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1965960"/>
            <a:ext cx="21762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  <a:latin typeface="Consolas"/>
              </a:defRPr>
            </a:pPr>
            <a:r>
              <a:t>STAGE 04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RECOVER SAFELY</a:t>
            </a:r>
          </a:p>
          <a:p>
            <a:pPr>
              <a:spcAft>
                <a:spcPts val="1000"/>
              </a:spcAft>
              <a:defRPr sz="1300" b="1">
                <a:solidFill>
                  <a:srgbClr val="059669"/>
                </a:solidFill>
                <a:latin typeface="Segoe UI"/>
              </a:defRPr>
            </a:pPr>
            <a:r>
              <a:t>Deterministic Safety Firewall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Deterministic guardrails enforce spend ceilings, switch health, and frequency backoffs before 1-click execution. Quarantines unverified accounts.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RecoverIQ  |  AI Revenue Recovery Engine  |  Razorpay AI Buildathon  |  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1389888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Consola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From a raw event to a verified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Every transaction progresses through an 8-stage deterministic and predictive state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243584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64748B"/>
                </a:solidFill>
                <a:latin typeface="Consolas"/>
              </a:defRPr>
            </a:pPr>
            <a:r>
              <a:t>NODE 01</a:t>
            </a:r>
          </a:p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Raw Event Ingest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1828800"/>
            <a:ext cx="1243584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64748B"/>
                </a:solidFill>
                <a:latin typeface="Consolas"/>
              </a:defRPr>
            </a:pPr>
            <a:r>
              <a:t>NODE 02</a:t>
            </a:r>
          </a:p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Vector Detect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1828800"/>
            <a:ext cx="1243584" cy="1051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284C7"/>
                </a:solidFill>
                <a:latin typeface="Consolas"/>
              </a:defRPr>
            </a:pPr>
            <a:r>
              <a:t>NODE 03</a:t>
            </a:r>
          </a:p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GBDT Predict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91456" y="1828800"/>
            <a:ext cx="1243584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64748B"/>
                </a:solidFill>
                <a:latin typeface="Consolas"/>
              </a:defRPr>
            </a:pPr>
            <a:r>
              <a:t>NODE 04</a:t>
            </a:r>
          </a:p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Expected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828800"/>
            <a:ext cx="1243584" cy="1051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284C7"/>
                </a:solidFill>
                <a:latin typeface="Consolas"/>
              </a:defRPr>
            </a:pPr>
            <a:r>
              <a:t>NODE 05</a:t>
            </a:r>
          </a:p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Guardrail Firewall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0" y="1828800"/>
            <a:ext cx="1243584" cy="1051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284C7"/>
                </a:solidFill>
                <a:latin typeface="Consolas"/>
              </a:defRPr>
            </a:pPr>
            <a:r>
              <a:t>NODE 06</a:t>
            </a:r>
          </a:p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0/1 Knapsack DP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1392" y="1828800"/>
            <a:ext cx="1243584" cy="1051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284C7"/>
                </a:solidFill>
                <a:latin typeface="Consolas"/>
              </a:defRPr>
            </a:pPr>
            <a:r>
              <a:t>NODE 07</a:t>
            </a:r>
          </a:p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Razorpay Dispatch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04704" y="1828800"/>
            <a:ext cx="1243584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64748B"/>
                </a:solidFill>
                <a:latin typeface="Consolas"/>
              </a:defRPr>
            </a:pPr>
            <a:r>
              <a:t>NODE 08</a:t>
            </a:r>
          </a:p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Audit &amp; Sync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266944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154680"/>
            <a:ext cx="5266944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91840"/>
            <a:ext cx="480974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59669"/>
                </a:solidFill>
                <a:latin typeface="Consolas"/>
              </a:defRPr>
            </a:pPr>
            <a:r>
              <a:t>BOUNDED AI SAFETY ARCHITECTURE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 high-value, low-confidence case never executes automatically.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Isolation of AI Inference: ML outputs probability; hard-coded rules decide action.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Deterministic Firewall: Evaluates spend thresholds, frequency caps, and switch latency.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Auto-Quarantine Routing: High-value anomalies (&gt;Rs 10,000) with confidence &lt; 70% divert to human review.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Zero Hallucination: Mathematical bounds guarantee no fabricated recovery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3154680"/>
            <a:ext cx="5266944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0488" y="3154680"/>
            <a:ext cx="5266944" cy="54864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291840"/>
            <a:ext cx="480974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66FF"/>
                </a:solidFill>
                <a:latin typeface="Consolas"/>
              </a:defRPr>
            </a:pPr>
            <a:r>
              <a:t>PRODUCTION PIPELINE SPECIFICATIONS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Engineered for high-throughput, fault-tolerant execution.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FastAPI Asynchronous Engine: Sub-18ms REST latency with pooled SQLite connections.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Razorpay SDK &amp; Webhooks: Direct payment links, smart retries, and HMAC-SHA256.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Real-Time Cloud Auto-Sync: Reconciles live payment status directly from Razorpay Cloud.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Immutable Audit Ledger: Every recovery outcome and model score cryptographically stamped.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RecoverIQ  |  AI Revenue Recovery Engine  |  Razorpay AI Buildathon  |  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1856232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Consolas"/>
              </a:defRPr>
            </a:pPr>
            <a:r>
              <a:t>THE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A solved mathematical allocation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Greedy FIFO sorting exhausts operational capacity on low-probability cases. RecoverIQ solves 0/1 Knapsack DP.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858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6858000" cy="5486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64008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Consolas"/>
              </a:defRPr>
            </a:pPr>
            <a:r>
              <a:t>0/1 KNAPSACK DYNAMIC PROGRAMMING FORMULATION</a:t>
            </a:r>
          </a:p>
          <a:p>
            <a:pPr>
              <a:spcAft>
                <a:spcPts val="1000"/>
              </a:spcAft>
              <a:defRPr sz="1200" b="1">
                <a:solidFill>
                  <a:srgbClr val="0284C7"/>
                </a:solidFill>
                <a:latin typeface="Consolas"/>
              </a:defRPr>
            </a:pPr>
            <a:r>
              <a:t>Maximize  SUM(x_i * EV_i)   subject to   SUM(x_i * w_i) &lt;= W_daily</a:t>
            </a:r>
          </a:p>
          <a:p>
            <a:pPr>
              <a:spcAft>
                <a:spcPts val="12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Under a fixed merchant operational capacity of W = 6 effort units per day, the engine computes the global optimal subset of recovery interventions maximizing total expected yield E[V] = P(Recovery) * Amount - Cost.</a:t>
            </a:r>
          </a:p>
          <a:p>
            <a:pPr>
              <a:spcAft>
                <a:spcPts val="400"/>
              </a:spcAft>
              <a:defRPr sz="1100" b="1">
                <a:solidFill>
                  <a:srgbClr val="059669"/>
                </a:solidFill>
                <a:latin typeface="Consolas"/>
              </a:defRPr>
            </a:pPr>
            <a:r>
              <a:t>OPTIMAL ACTION SUBSET (SELECTED BY DP):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Consolas"/>
              </a:defRPr>
            </a:pPr>
            <a:r>
              <a:t>  [+] INV-2026-001 (Rs 13,833) | Effort: 2 Units | 86% Prob -&gt; EV: Rs 11,896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Consolas"/>
              </a:defRPr>
            </a:pPr>
            <a:r>
              <a:t>  [+] INV-2026-002 (Rs 10,159) | Effort: 2 Units | 84% Prob -&gt; EV: Rs 8,533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Consolas"/>
              </a:defRPr>
            </a:pPr>
            <a:r>
              <a:t>  [+] PARTIAL-INV-002 (Rs 9,520) | Effort: 2 Units | 78% Prob -&gt; EV: Rs 7,425</a:t>
            </a:r>
          </a:p>
          <a:p>
            <a:br/>
            <a:pPr>
              <a:spcAft>
                <a:spcPts val="200"/>
              </a:spcAft>
              <a:defRPr sz="1100" b="1">
                <a:solidFill>
                  <a:srgbClr val="E11D48"/>
                </a:solidFill>
                <a:latin typeface="Consolas"/>
              </a:defRPr>
            </a:pPr>
            <a:r>
              <a:t>SUBOPTIMAL REJECT (KNAPSACK DENSITY TRADE-OFF):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  [-] INV-2026-003 (Rs 15,200) — Exceeds remaining budget. Lower EV-per-effort density. Plain sorting would have naively picked this and lost Rs 13,000+ in other recoveries.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828800"/>
            <a:ext cx="3657600" cy="4343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1828800"/>
            <a:ext cx="3657600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03120"/>
            <a:ext cx="32004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284C7"/>
                </a:solidFill>
                <a:latin typeface="Consolas"/>
              </a:defRPr>
            </a:pPr>
            <a:r>
              <a:t>QUANTIFIABLE RECOVERY LIFT</a:t>
            </a:r>
          </a:p>
          <a:p>
            <a:pPr>
              <a:spcAft>
                <a:spcPts val="1000"/>
              </a:spcAft>
              <a:defRPr sz="5800" b="1">
                <a:solidFill>
                  <a:srgbClr val="059669"/>
                </a:solidFill>
                <a:latin typeface="Segoe UI"/>
              </a:defRPr>
            </a:pPr>
            <a:r>
              <a:t>+72.8%</a:t>
            </a:r>
          </a:p>
          <a:p>
            <a:pPr>
              <a:spcAft>
                <a:spcPts val="1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Higher expected revenue recovery compared to naive First-In-First-Out queue processing.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Empirical Validation:</a:t>
            </a:r>
            <a:br/>
            <a:r>
              <a:t>Tested against synthetic ground-truth recovery sets under identical staff capacity budgets.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RecoverIQ  |  AI Revenue Recovery Engine  |  Razorpay AI Buildathon  |  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01168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Consolas"/>
              </a:defRPr>
            </a:pPr>
            <a:r>
              <a:t>BOUNDED AI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AI explains the decision. It never makes the call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Confidence is derived strictly from the calibrated statistical model — never from an unverified hallucination.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66944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66944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80974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9669"/>
                </a:solidFill>
                <a:latin typeface="Consolas"/>
              </a:defRPr>
            </a:pPr>
            <a:r>
              <a:t>TELEMETRY AUDIT: CASE 01 // APPROVED</a:t>
            </a:r>
          </a:p>
          <a:p>
            <a:pPr>
              <a:defRPr sz="1000" b="1">
                <a:solidFill>
                  <a:srgbClr val="64748B"/>
                </a:solidFill>
                <a:latin typeface="Consolas"/>
              </a:defRPr>
            </a:pPr>
            <a:r>
              <a:t>Opportunity ID: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  OPP_PARTIAL_INV_PARTIAL_01 (Rs 9,520)</a:t>
            </a:r>
          </a:p>
          <a:p>
            <a:pPr>
              <a:defRPr sz="1000" b="1">
                <a:solidFill>
                  <a:srgbClr val="64748B"/>
                </a:solidFill>
                <a:latin typeface="Consolas"/>
              </a:defRPr>
            </a:pPr>
            <a:r>
              <a:t>Detected Root Cause: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  Token advance paid, balance installment unpaid for 3 days</a:t>
            </a:r>
          </a:p>
          <a:p>
            <a:pPr>
              <a:defRPr sz="1000" b="1">
                <a:solidFill>
                  <a:srgbClr val="64748B"/>
                </a:solidFill>
                <a:latin typeface="Consolas"/>
              </a:defRPr>
            </a:pPr>
            <a:r>
              <a:t>Recommended Action: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  1-Click WhatsApp payment recovery link with tailored expiry</a:t>
            </a:r>
          </a:p>
          <a:p>
            <a:pPr>
              <a:defRPr sz="1000" b="1">
                <a:solidFill>
                  <a:srgbClr val="64748B"/>
                </a:solidFill>
                <a:latin typeface="Consolas"/>
              </a:defRPr>
            </a:pPr>
            <a:r>
              <a:t>Model Confidence: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  85.4% [HIGH CONFIDENCE TIER] — Calibrated GBDT probability</a:t>
            </a:r>
          </a:p>
          <a:p>
            <a:pPr>
              <a:defRPr sz="1000" b="1">
                <a:solidFill>
                  <a:srgbClr val="64748B"/>
                </a:solidFill>
                <a:latin typeface="Consolas"/>
              </a:defRPr>
            </a:pPr>
            <a:r>
              <a:t>Deterministic Firewall: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  PASSED — Spend ceiling respected, switch latency nominal</a:t>
            </a:r>
          </a:p>
          <a:p>
            <a:pPr>
              <a:defRPr sz="1000" b="1">
                <a:solidFill>
                  <a:srgbClr val="64748B"/>
                </a:solidFill>
                <a:latin typeface="Consolas"/>
              </a:defRPr>
            </a:pPr>
            <a:r>
              <a:t>System Execution: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  Auto-approved &amp; dispatched directly to Razorpay payment rails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828800"/>
            <a:ext cx="5266944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0488" y="1828800"/>
            <a:ext cx="5266944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65960"/>
            <a:ext cx="480974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7706"/>
                </a:solidFill>
                <a:latin typeface="Consolas"/>
              </a:defRPr>
            </a:pPr>
            <a:r>
              <a:t>TELEMETRY AUDIT: CASE 02 // QUARANTINED</a:t>
            </a:r>
          </a:p>
          <a:p>
            <a:pPr>
              <a:defRPr sz="1000" b="1">
                <a:solidFill>
                  <a:srgbClr val="64748B"/>
                </a:solidFill>
                <a:latin typeface="Consolas"/>
              </a:defRPr>
            </a:pPr>
            <a:r>
              <a:t>Opportunity ID: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  OPP_INVOICE_OVERDUE_99 (Rs 12,400)</a:t>
            </a:r>
          </a:p>
          <a:p>
            <a:pPr>
              <a:defRPr sz="1000" b="1">
                <a:solidFill>
                  <a:srgbClr val="64748B"/>
                </a:solidFill>
                <a:latin typeface="Consolas"/>
              </a:defRPr>
            </a:pPr>
            <a:r>
              <a:t>Detected Root Cause: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  High-value commercial invoice, zero prior transaction history</a:t>
            </a:r>
          </a:p>
          <a:p>
            <a:pPr>
              <a:defRPr sz="1000" b="1">
                <a:solidFill>
                  <a:srgbClr val="64748B"/>
                </a:solidFill>
                <a:latin typeface="Consolas"/>
              </a:defRPr>
            </a:pPr>
            <a:r>
              <a:t>Recommended Action: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  Manual executive phone outreach prior to automated dunning</a:t>
            </a:r>
          </a:p>
          <a:p>
            <a:pPr>
              <a:defRPr sz="1000" b="1">
                <a:solidFill>
                  <a:srgbClr val="64748B"/>
                </a:solidFill>
                <a:latin typeface="Consolas"/>
              </a:defRPr>
            </a:pPr>
            <a:r>
              <a:t>Model Confidence: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  46.2% [LOW CONFIDENCE TIER] — Below 70% threshold for tickets &gt; Rs 10k</a:t>
            </a:r>
          </a:p>
          <a:p>
            <a:pPr>
              <a:defRPr sz="1000" b="1">
                <a:solidFill>
                  <a:srgbClr val="64748B"/>
                </a:solidFill>
                <a:latin typeface="Consolas"/>
              </a:defRPr>
            </a:pPr>
            <a:r>
              <a:t>Deterministic Firewall: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  BLOCKED / QUARANTINED — High monetary risk + low predictive confidence</a:t>
            </a:r>
          </a:p>
          <a:p>
            <a:pPr>
              <a:defRPr sz="1000" b="1">
                <a:solidFill>
                  <a:srgbClr val="64748B"/>
                </a:solidFill>
                <a:latin typeface="Consolas"/>
              </a:defRPr>
            </a:pPr>
            <a:r>
              <a:t>System Execution:</a:t>
            </a:r>
          </a:p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  Quarantined. Routed to merchant admin review queue. Zero auto-dispatch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RecoverIQ  |  AI Revenue Recovery Engine  |  Razorpay AI Buildathon  |  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775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Consolas"/>
              </a:defRPr>
            </a:pPr>
            <a:r>
              <a:t>EMPIRICAL OUTCOMES &amp;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Measured, not claimed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Live platform metrics reconciled directly against Razorpay Cloud payment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54203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2542032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74519"/>
            <a:ext cx="22128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11D48"/>
                </a:solidFill>
                <a:latin typeface="Consolas"/>
              </a:defRPr>
            </a:pPr>
            <a:r>
              <a:t>TOTAL AT-RISK VOLUME</a:t>
            </a:r>
          </a:p>
          <a:p>
            <a:pPr>
              <a:spcAft>
                <a:spcPts val="200"/>
              </a:spcAft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Rs 74,149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12 Active Opportunities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783080"/>
            <a:ext cx="254203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1783080"/>
            <a:ext cx="2542032" cy="54864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874519"/>
            <a:ext cx="22128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66FF"/>
                </a:solidFill>
                <a:latin typeface="Consolas"/>
              </a:defRPr>
            </a:pPr>
            <a:r>
              <a:t>PREDICTED RECOVERABLE</a:t>
            </a:r>
          </a:p>
          <a:p>
            <a:pPr>
              <a:spcAft>
                <a:spcPts val="200"/>
              </a:spcAft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Rs 60,673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Statistical Expected Pool (EV)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83080"/>
            <a:ext cx="254203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1344" y="1783080"/>
            <a:ext cx="2542032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874519"/>
            <a:ext cx="22128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59669"/>
                </a:solidFill>
                <a:latin typeface="Consolas"/>
              </a:defRPr>
            </a:pPr>
            <a:r>
              <a:t>ACTUALLY SETTLED</a:t>
            </a:r>
          </a:p>
          <a:p>
            <a:pPr>
              <a:spcAft>
                <a:spcPts val="200"/>
              </a:spcAft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Rs 21,049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Reconciled via Razorpay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783080"/>
            <a:ext cx="254203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06256" y="1783080"/>
            <a:ext cx="2542032" cy="5486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8" y="1874519"/>
            <a:ext cx="22128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284C7"/>
                </a:solidFill>
                <a:latin typeface="Consolas"/>
              </a:defRPr>
            </a:pPr>
            <a:r>
              <a:t>RECOVERY RATE</a:t>
            </a:r>
          </a:p>
          <a:p>
            <a:pPr>
              <a:spcAft>
                <a:spcPts val="200"/>
              </a:spcAft>
              <a:defRPr sz="2800" b="1">
                <a:solidFill>
                  <a:srgbClr val="0F172A"/>
                </a:solidFill>
                <a:latin typeface="Segoe UI"/>
              </a:defRPr>
            </a:pPr>
            <a:r>
              <a:t>28.4%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Delinquent Capital Settled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10728655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10728655" cy="5486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9476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284C7"/>
                </a:solidFill>
                <a:latin typeface="Consolas"/>
              </a:defRPr>
            </a:pPr>
            <a:r>
              <a:t>REVENUE RECOVERY RATE BY LEAKAGE CHANNEL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  •  Failed Checkouts [100.0%]:  Instant switch failover retries and 1-click fallback links captured immediate bank card decline recoverables.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  •  Partial Payments [37.8%]:  Automated WhatsApp and SMS dunning links with tailored expiry successfully converted abandoned installments.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  •  Overdue Invoices [Active]:  B2B commercial invoice payment links generated with unique reference tracking and automated reminder intervals.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  •  Refund Mismatches [Reconciled]:  Pre-authorization capture executed safely within the deterministic Rs 7,500 safety threshold.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RecoverIQ  |  AI Revenue Recovery Engine  |  Razorpay AI Buildathon  |  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1700784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Consolas"/>
              </a:defRPr>
            </a:pPr>
            <a:r>
              <a:t>MODEL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Built to be checked, not just demoed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Evaluating predictive discrimination, empirical reliability, and production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66944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66944" cy="5486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80974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284C7"/>
                </a:solidFill>
                <a:latin typeface="Consolas"/>
              </a:defRPr>
            </a:pPr>
            <a:r>
              <a:t>HELD-OUT EVALUATION SET BENCHMARKS</a:t>
            </a:r>
          </a:p>
          <a:p>
            <a:pPr>
              <a:defRPr sz="1800" b="1">
                <a:solidFill>
                  <a:srgbClr val="059669"/>
                </a:solidFill>
                <a:latin typeface="Consolas"/>
              </a:defRPr>
            </a:pPr>
            <a:r>
              <a:t>RECALL:  0.84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  Deliberately prioritized sensitivity (class_weight='balanced')</a:t>
            </a:r>
          </a:p>
          <a:p>
            <a:pPr>
              <a:defRPr sz="1800" b="1">
                <a:solidFill>
                  <a:srgbClr val="059669"/>
                </a:solidFill>
                <a:latin typeface="Consolas"/>
              </a:defRPr>
            </a:pPr>
            <a:r>
              <a:t>PRECISION:  0.53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  Disciplined selectivity avoiding merchant spam</a:t>
            </a:r>
          </a:p>
          <a:p>
            <a:pPr>
              <a:defRPr sz="1800" b="1">
                <a:solidFill>
                  <a:srgbClr val="059669"/>
                </a:solidFill>
                <a:latin typeface="Consolas"/>
              </a:defRPr>
            </a:pPr>
            <a:r>
              <a:t>ROC-AUC:  0.70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  Discriminative separation capability on noisy signals</a:t>
            </a:r>
          </a:p>
          <a:p>
            <a:pPr>
              <a:defRPr sz="1800" b="1">
                <a:solidFill>
                  <a:srgbClr val="059669"/>
                </a:solidFill>
                <a:latin typeface="Consolas"/>
              </a:defRPr>
            </a:pPr>
            <a:r>
              <a:t>BRIER SKILL SCORE:  0.12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  Low probability calibration error across deciles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Design Decision: Recall was prioritized intentionally. In delinquent revenue recovery, missing a recoverable payment incurs a 100% loss of that capital, whereas a false-positive outreach only costs Rs 4.00.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828800"/>
            <a:ext cx="5266944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0488" y="1828800"/>
            <a:ext cx="5266944" cy="54864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65960"/>
            <a:ext cx="480974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66FF"/>
                </a:solidFill>
                <a:latin typeface="Consolas"/>
              </a:defRPr>
            </a:pPr>
            <a:r>
              <a:t>PRODUCTION ARCHITECTURE HIGHLIGHTS</a:t>
            </a:r>
          </a:p>
          <a:p>
            <a:pPr>
              <a:defRPr sz="1200" b="1">
                <a:solidFill>
                  <a:srgbClr val="0284C7"/>
                </a:solidFill>
                <a:latin typeface="Consolas"/>
              </a:defRPr>
            </a:pPr>
            <a:r>
              <a:t>•  FastAPI &amp; Async SQLite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     High-concurrency typed API layer with connection pooling and idempotent transactional commits.</a:t>
            </a:r>
          </a:p>
          <a:p>
            <a:pPr>
              <a:defRPr sz="1200" b="1">
                <a:solidFill>
                  <a:srgbClr val="0284C7"/>
                </a:solidFill>
                <a:latin typeface="Consolas"/>
              </a:defRPr>
            </a:pPr>
            <a:r>
              <a:t>•  scikit-learn GBDT &amp; Calibration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     Gradient Boosted Decision Tree pipeline with isotonic decile probability calibration curves.</a:t>
            </a:r>
          </a:p>
          <a:p>
            <a:pPr>
              <a:defRPr sz="1200" b="1">
                <a:solidFill>
                  <a:srgbClr val="0284C7"/>
                </a:solidFill>
                <a:latin typeface="Consolas"/>
              </a:defRPr>
            </a:pPr>
            <a:r>
              <a:t>•  Razorpay SDK &amp; Cloud Sync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     Native payment links, smart switch retries, and continuous cloud-based payment reconciliation.</a:t>
            </a:r>
          </a:p>
          <a:p>
            <a:pPr>
              <a:defRPr sz="1200" b="1">
                <a:solidFill>
                  <a:srgbClr val="0284C7"/>
                </a:solidFill>
                <a:latin typeface="Consolas"/>
              </a:defRPr>
            </a:pPr>
            <a:r>
              <a:t>•  Security &amp; Idempotency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     HMAC-SHA256 signature verification, unique reference IDs (&lt;40 chars), and cryptographic audit trail.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RecoverIQ  |  AI Revenue Recovery Engine  |  Razorpay AI Buildathon  |  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1778508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Consolas"/>
              </a:defRPr>
            </a:pPr>
            <a:r>
              <a:t>HORIZONS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A decision system, not a retry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The foundation for autonomous financial resilience across the modern merchant economy.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5643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56432" cy="5486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65960"/>
            <a:ext cx="312724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Consolas"/>
              </a:defRPr>
            </a:pPr>
            <a:r>
              <a:t>01 / REINFORCEMENT</a:t>
            </a:r>
          </a:p>
          <a:p>
            <a:pPr>
              <a:spcAft>
                <a:spcPts val="8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Online Feedback Loop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Real recovery outcomes stream into periodic Bayesian model retraining, adapting dynamically to seasonal bank decline rates and customer behavioral shifts.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5643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3456432" cy="5486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2724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F172A"/>
                </a:solidFill>
                <a:latin typeface="Consolas"/>
              </a:defRPr>
            </a:pPr>
            <a:r>
              <a:t>02 / EXPANSION</a:t>
            </a:r>
          </a:p>
          <a:p>
            <a:pPr>
              <a:spcAft>
                <a:spcPts val="8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Multi-Rail Recovery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Expanding vector coverage into recurring subscription mandate failures (UPI Autopay), SaaS churn recovery, and proactive chargeback dispute mitigation.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828800"/>
            <a:ext cx="345643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456432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965960"/>
            <a:ext cx="312724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  <a:latin typeface="Consolas"/>
              </a:defRPr>
            </a:pPr>
            <a:r>
              <a:t>03 / DRIFT RADAR</a:t>
            </a:r>
          </a:p>
          <a:p>
            <a:pPr>
              <a:spcAft>
                <a:spcPts val="8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Real-Time Calibration Radar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Automated sliding-window telemetry tracking predicted probability vs. empirical settlement rate, alerting merchants before model degradation affects yield.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66360"/>
            <a:ext cx="10728655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5166360"/>
            <a:ext cx="10728655" cy="5486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57800"/>
            <a:ext cx="102714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RecoverIQ: Detect. Predict. Prioritize. Recover — safely.</a:t>
            </a:r>
          </a:p>
          <a:p>
            <a:pPr>
              <a:defRPr sz="1200" b="1">
                <a:solidFill>
                  <a:srgbClr val="94A3B8"/>
                </a:solidFill>
                <a:latin typeface="Consolas"/>
              </a:defRPr>
            </a:pPr>
            <a:r>
              <a:t>Thank you!  |  Presenter &amp; Architect: R Yaswanth Raju  |  Razorpay AI Buildathon (Track 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RecoverIQ  |  AI Revenue Recovery Engine  |  Razorpay AI Buildathon  |  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